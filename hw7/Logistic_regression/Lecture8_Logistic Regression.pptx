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455" r:id="rId5"/>
    <p:sldId id="460" r:id="rId6"/>
    <p:sldId id="542" r:id="rId7"/>
    <p:sldId id="602" r:id="rId8"/>
    <p:sldId id="603" r:id="rId9"/>
    <p:sldId id="604" r:id="rId10"/>
    <p:sldId id="605" r:id="rId11"/>
    <p:sldId id="606" r:id="rId12"/>
    <p:sldId id="607" r:id="rId13"/>
    <p:sldId id="608" r:id="rId14"/>
    <p:sldId id="609" r:id="rId15"/>
    <p:sldId id="610" r:id="rId16"/>
    <p:sldId id="611" r:id="rId17"/>
    <p:sldId id="495" r:id="rId18"/>
    <p:sldId id="479" r:id="rId19"/>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1F3D"/>
    <a:srgbClr val="D9D9D9"/>
    <a:srgbClr val="029C63"/>
    <a:srgbClr val="96628C"/>
    <a:srgbClr val="11A0D7"/>
    <a:srgbClr val="CD5A5A"/>
    <a:srgbClr val="FFD746"/>
    <a:srgbClr val="0E2D6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58"/>
    <p:restoredTop sz="94769"/>
  </p:normalViewPr>
  <p:slideViewPr>
    <p:cSldViewPr snapToGrid="0" snapToObjects="1">
      <p:cViewPr varScale="1">
        <p:scale>
          <a:sx n="102" d="100"/>
          <a:sy n="102" d="100"/>
        </p:scale>
        <p:origin x="1112" y="176"/>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10/29/25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10/29/25</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melikyan@hse.r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Layout" Target="../slideLayouts/slideLayout3.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www.norusis.com/pdf/ASPC_v13.pdf" TargetMode="External"/><Relationship Id="rId2" Type="http://schemas.openxmlformats.org/officeDocument/2006/relationships/hyperlink" Target="http://www.utexas.edu/courses/schwab/sw388r7/SolvingProblems/MultiLogisticRegression_CompleteProblems.ppt" TargetMode="External"/><Relationship Id="rId1" Type="http://schemas.openxmlformats.org/officeDocument/2006/relationships/slideLayout" Target="../slideLayouts/slideLayout3.xml"/><Relationship Id="rId5" Type="http://schemas.openxmlformats.org/officeDocument/2006/relationships/hyperlink" Target="https://www.stata.com/meeting/germany08/GSUG2008.pdf" TargetMode="External"/><Relationship Id="rId4" Type="http://schemas.openxmlformats.org/officeDocument/2006/relationships/hyperlink" Target="https://www.statsmodels.org/devel/examples/notebooks/generated/ordinal_regression.html?highlight=ordina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1027967" y="2404670"/>
            <a:ext cx="8230333" cy="1978323"/>
          </a:xfrm>
        </p:spPr>
        <p:txBody>
          <a:bodyPr/>
          <a:lstStyle/>
          <a:p>
            <a:r>
              <a:rPr lang="fr-FR" b="1" dirty="0">
                <a:latin typeface="Arial" panose="020B0604020202020204" pitchFamily="34" charset="0"/>
                <a:cs typeface="Arial" panose="020B0604020202020204" pitchFamily="34" charset="0"/>
              </a:rPr>
              <a:t>Lecture 8</a:t>
            </a:r>
            <a:br>
              <a:rPr lang="ru-RU"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Logistic Regression</a:t>
            </a:r>
            <a:endParaRPr lang="ru-RU"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2074947" y="1187841"/>
            <a:ext cx="3935236" cy="435163"/>
          </a:xfrm>
        </p:spPr>
        <p:txBody>
          <a:bodyPr/>
          <a:lstStyle/>
          <a:p>
            <a:pPr algn="ctr"/>
            <a:r>
              <a:rPr lang="en-US" sz="2000" dirty="0">
                <a:latin typeface="Arial" panose="020B0604020202020204" pitchFamily="34" charset="0"/>
                <a:cs typeface="Arial" panose="020B0604020202020204" pitchFamily="34" charset="0"/>
              </a:rPr>
              <a:t>Faculty of Computer Science</a:t>
            </a:r>
            <a:endParaRPr lang="ru-RU" sz="2000" dirty="0">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p:txBody>
          <a:bodyPr>
            <a:normAutofit/>
          </a:bodyPr>
          <a:lstStyle/>
          <a:p>
            <a:r>
              <a:rPr lang="en-US" sz="2000" dirty="0">
                <a:latin typeface="Arial" panose="020B0604020202020204" pitchFamily="34" charset="0"/>
                <a:cs typeface="Arial" panose="020B0604020202020204" pitchFamily="34" charset="0"/>
              </a:rPr>
              <a:t>Lecturer</a:t>
            </a:r>
            <a:r>
              <a:rPr lang="ru-RU"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Alisa </a:t>
            </a:r>
            <a:r>
              <a:rPr lang="en-US" sz="2000" dirty="0" err="1">
                <a:latin typeface="Arial" panose="020B0604020202020204" pitchFamily="34" charset="0"/>
                <a:cs typeface="Arial" panose="020B0604020202020204" pitchFamily="34" charset="0"/>
              </a:rPr>
              <a:t>Melikyan</a:t>
            </a:r>
            <a:r>
              <a:rPr lang="ru-RU"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hlinkClick r:id="rId2"/>
              </a:rPr>
              <a:t>amelikyan@hse.ru</a:t>
            </a:r>
            <a:r>
              <a:rPr lang="en-US" sz="2000" dirty="0">
                <a:latin typeface="Arial" panose="020B0604020202020204" pitchFamily="34" charset="0"/>
                <a:cs typeface="Arial" panose="020B0604020202020204" pitchFamily="34" charset="0"/>
              </a:rPr>
              <a:t>, PhD,</a:t>
            </a:r>
            <a:endParaRPr lang="ru-RU" sz="2000" dirty="0">
              <a:latin typeface="Arial" panose="020B0604020202020204" pitchFamily="34" charset="0"/>
              <a:cs typeface="Arial" panose="020B0604020202020204" pitchFamily="34" charset="0"/>
            </a:endParaRPr>
          </a:p>
          <a:p>
            <a:r>
              <a:rPr lang="fr-FR" sz="2000" dirty="0">
                <a:latin typeface="Arial" panose="020B0604020202020204" pitchFamily="34" charset="0"/>
                <a:cs typeface="Arial" panose="020B0604020202020204" pitchFamily="34" charset="0"/>
              </a:rPr>
              <a:t>Associate Professor of the School of Software Engineering</a:t>
            </a:r>
            <a:endParaRPr lang="ru-RU" sz="2000" dirty="0">
              <a:latin typeface="Arial" panose="020B0604020202020204" pitchFamily="34" charset="0"/>
              <a:cs typeface="Arial" panose="020B0604020202020204" pitchFamily="34" charset="0"/>
            </a:endParaRPr>
          </a:p>
        </p:txBody>
      </p:sp>
      <p:sp>
        <p:nvSpPr>
          <p:cNvPr id="8" name="Текст 2">
            <a:extLst>
              <a:ext uri="{FF2B5EF4-FFF2-40B4-BE49-F238E27FC236}">
                <a16:creationId xmlns:a16="http://schemas.microsoft.com/office/drawing/2014/main" id="{2B85EA7E-BEC4-B745-B2A8-D4E4AFC614FC}"/>
              </a:ext>
            </a:extLst>
          </p:cNvPr>
          <p:cNvSpPr txBox="1">
            <a:spLocks/>
          </p:cNvSpPr>
          <p:nvPr/>
        </p:nvSpPr>
        <p:spPr>
          <a:xfrm>
            <a:off x="6204857" y="1193280"/>
            <a:ext cx="230142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Data Analysis</a:t>
            </a:r>
            <a:endParaRPr lang="ru-RU" sz="2000" dirty="0">
              <a:latin typeface="Arial" panose="020B0604020202020204" pitchFamily="34" charset="0"/>
              <a:cs typeface="Arial" panose="020B0604020202020204" pitchFamily="34" charset="0"/>
            </a:endParaRPr>
          </a:p>
        </p:txBody>
      </p:sp>
      <p:sp>
        <p:nvSpPr>
          <p:cNvPr id="10" name="Текст 2">
            <a:extLst>
              <a:ext uri="{FF2B5EF4-FFF2-40B4-BE49-F238E27FC236}">
                <a16:creationId xmlns:a16="http://schemas.microsoft.com/office/drawing/2014/main" id="{2B85EA7E-BEC4-B745-B2A8-D4E4AFC614FC}"/>
              </a:ext>
            </a:extLst>
          </p:cNvPr>
          <p:cNvSpPr txBox="1">
            <a:spLocks/>
          </p:cNvSpPr>
          <p:nvPr/>
        </p:nvSpPr>
        <p:spPr>
          <a:xfrm>
            <a:off x="9107120" y="1198719"/>
            <a:ext cx="177315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Moscow</a:t>
            </a:r>
            <a:r>
              <a:rPr lang="ru-RU" sz="2000" dirty="0">
                <a:latin typeface="Arial" panose="020B0604020202020204" pitchFamily="34" charset="0"/>
                <a:cs typeface="Arial" panose="020B0604020202020204" pitchFamily="34" charset="0"/>
              </a:rPr>
              <a:t> 2025</a:t>
            </a:r>
          </a:p>
        </p:txBody>
      </p:sp>
    </p:spTree>
    <p:extLst>
      <p:ext uri="{BB962C8B-B14F-4D97-AF65-F5344CB8AC3E}">
        <p14:creationId xmlns:p14="http://schemas.microsoft.com/office/powerpoint/2010/main" val="154940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431461"/>
            <a:ext cx="11057955" cy="777025"/>
          </a:xfrm>
        </p:spPr>
        <p:txBody>
          <a:bodyPr>
            <a:noAutofit/>
          </a:bodyPr>
          <a:lstStyle/>
          <a:p>
            <a:r>
              <a:rPr lang="en-US" sz="3700" b="1" dirty="0">
                <a:latin typeface="Arial" panose="020B0604020202020204" pitchFamily="34" charset="0"/>
                <a:cs typeface="Arial" panose="020B0604020202020204" pitchFamily="34" charset="0"/>
              </a:rPr>
              <a:t>Logistic Regression</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graphicFrame>
        <p:nvGraphicFramePr>
          <p:cNvPr id="8" name="Таблица 7"/>
          <p:cNvGraphicFramePr>
            <a:graphicFrameLocks noGrp="1"/>
          </p:cNvGraphicFramePr>
          <p:nvPr>
            <p:extLst>
              <p:ext uri="{D42A27DB-BD31-4B8C-83A1-F6EECF244321}">
                <p14:modId xmlns:p14="http://schemas.microsoft.com/office/powerpoint/2010/main" val="335258425"/>
              </p:ext>
            </p:extLst>
          </p:nvPr>
        </p:nvGraphicFramePr>
        <p:xfrm>
          <a:off x="1056177" y="2355970"/>
          <a:ext cx="10123100" cy="4030082"/>
        </p:xfrm>
        <a:graphic>
          <a:graphicData uri="http://schemas.openxmlformats.org/drawingml/2006/table">
            <a:tbl>
              <a:tblPr firstRow="1" bandRow="1">
                <a:tableStyleId>{5C22544A-7EE6-4342-B048-85BDC9FD1C3A}</a:tableStyleId>
              </a:tblPr>
              <a:tblGrid>
                <a:gridCol w="2523398">
                  <a:extLst>
                    <a:ext uri="{9D8B030D-6E8A-4147-A177-3AD203B41FA5}">
                      <a16:colId xmlns:a16="http://schemas.microsoft.com/office/drawing/2014/main" val="917759330"/>
                    </a:ext>
                  </a:extLst>
                </a:gridCol>
                <a:gridCol w="4685095">
                  <a:extLst>
                    <a:ext uri="{9D8B030D-6E8A-4147-A177-3AD203B41FA5}">
                      <a16:colId xmlns:a16="http://schemas.microsoft.com/office/drawing/2014/main" val="2388769833"/>
                    </a:ext>
                  </a:extLst>
                </a:gridCol>
                <a:gridCol w="2914607">
                  <a:extLst>
                    <a:ext uri="{9D8B030D-6E8A-4147-A177-3AD203B41FA5}">
                      <a16:colId xmlns:a16="http://schemas.microsoft.com/office/drawing/2014/main" val="304830920"/>
                    </a:ext>
                  </a:extLst>
                </a:gridCol>
              </a:tblGrid>
              <a:tr h="962737">
                <a:tc>
                  <a:txBody>
                    <a:bodyPr/>
                    <a:lstStyle/>
                    <a:p>
                      <a:pPr algn="ctr"/>
                      <a:r>
                        <a:rPr lang="en-US" sz="2400" dirty="0">
                          <a:solidFill>
                            <a:schemeClr val="bg2">
                              <a:lumMod val="10000"/>
                            </a:schemeClr>
                          </a:solidFill>
                        </a:rPr>
                        <a:t>Type of regression</a:t>
                      </a:r>
                      <a:r>
                        <a:rPr lang="en-US" sz="2400" baseline="0" dirty="0">
                          <a:solidFill>
                            <a:schemeClr val="bg2">
                              <a:lumMod val="10000"/>
                            </a:schemeClr>
                          </a:solidFill>
                        </a:rPr>
                        <a:t> model</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US" sz="2400" dirty="0">
                          <a:solidFill>
                            <a:schemeClr val="bg2">
                              <a:lumMod val="10000"/>
                            </a:schemeClr>
                          </a:solidFill>
                        </a:rPr>
                        <a:t>Dependent Variable</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sz="2400" dirty="0">
                          <a:solidFill>
                            <a:schemeClr val="bg2">
                              <a:lumMod val="10000"/>
                            </a:schemeClr>
                          </a:solidFill>
                        </a:rPr>
                        <a:t>Predictors</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933531356"/>
                  </a:ext>
                </a:extLst>
              </a:tr>
              <a:tr h="374398">
                <a:tc>
                  <a:txBody>
                    <a:bodyPr/>
                    <a:lstStyle/>
                    <a:p>
                      <a:r>
                        <a:rPr lang="en-US" sz="2400" dirty="0">
                          <a:solidFill>
                            <a:schemeClr val="bg2">
                              <a:lumMod val="10000"/>
                            </a:schemeClr>
                          </a:solidFill>
                        </a:rPr>
                        <a:t>Binary</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chemeClr val="bg2">
                              <a:lumMod val="10000"/>
                            </a:schemeClr>
                          </a:solidFill>
                        </a:rPr>
                        <a:t>Binary (yes,</a:t>
                      </a:r>
                      <a:r>
                        <a:rPr lang="en-US" sz="2400" baseline="0" dirty="0">
                          <a:solidFill>
                            <a:schemeClr val="bg2">
                              <a:lumMod val="10000"/>
                            </a:schemeClr>
                          </a:solidFill>
                        </a:rPr>
                        <a:t> no)</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342900" indent="-342900">
                        <a:buFont typeface="Arial" panose="020B0604020202020204" pitchFamily="34" charset="0"/>
                        <a:buChar char="•"/>
                      </a:pPr>
                      <a:r>
                        <a:rPr lang="en-US" sz="2400" dirty="0">
                          <a:solidFill>
                            <a:schemeClr val="bg2">
                              <a:lumMod val="10000"/>
                            </a:schemeClr>
                          </a:solidFill>
                        </a:rPr>
                        <a:t>Interval or ratio scale</a:t>
                      </a:r>
                      <a:r>
                        <a:rPr lang="en-US" sz="2400" baseline="0" dirty="0">
                          <a:solidFill>
                            <a:schemeClr val="bg2">
                              <a:lumMod val="10000"/>
                            </a:schemeClr>
                          </a:solidFill>
                        </a:rPr>
                        <a:t> variables</a:t>
                      </a:r>
                    </a:p>
                    <a:p>
                      <a:pPr marL="342900" indent="-342900">
                        <a:buFont typeface="Arial" panose="020B0604020202020204" pitchFamily="34" charset="0"/>
                        <a:buChar char="•"/>
                      </a:pPr>
                      <a:endParaRPr lang="en-US" sz="2400" baseline="0" dirty="0">
                        <a:solidFill>
                          <a:schemeClr val="bg2">
                            <a:lumMod val="10000"/>
                          </a:schemeClr>
                        </a:solidFill>
                      </a:endParaRPr>
                    </a:p>
                    <a:p>
                      <a:pPr marL="342900" indent="-342900">
                        <a:buFont typeface="Arial" panose="020B0604020202020204" pitchFamily="34" charset="0"/>
                        <a:buChar char="•"/>
                      </a:pPr>
                      <a:r>
                        <a:rPr lang="en-US" sz="2400" baseline="0" dirty="0">
                          <a:solidFill>
                            <a:schemeClr val="bg2">
                              <a:lumMod val="10000"/>
                            </a:schemeClr>
                          </a:solidFill>
                        </a:rPr>
                        <a:t>Binary variables</a:t>
                      </a:r>
                    </a:p>
                    <a:p>
                      <a:pPr marL="342900" indent="-342900">
                        <a:buFont typeface="Arial" panose="020B0604020202020204" pitchFamily="34" charset="0"/>
                        <a:buChar char="•"/>
                      </a:pPr>
                      <a:endParaRPr lang="en-US" sz="2400" baseline="0" dirty="0">
                        <a:solidFill>
                          <a:schemeClr val="bg2">
                            <a:lumMod val="10000"/>
                          </a:schemeClr>
                        </a:solidFill>
                      </a:endParaRPr>
                    </a:p>
                    <a:p>
                      <a:pPr marL="342900" indent="-342900">
                        <a:buFont typeface="Arial" panose="020B0604020202020204" pitchFamily="34" charset="0"/>
                        <a:buChar char="•"/>
                      </a:pPr>
                      <a:r>
                        <a:rPr lang="en-US" sz="2400" baseline="0" dirty="0">
                          <a:solidFill>
                            <a:schemeClr val="bg2">
                              <a:lumMod val="10000"/>
                            </a:schemeClr>
                          </a:solidFill>
                        </a:rPr>
                        <a:t>Categorical variables (series of dummy variables) </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487992"/>
                  </a:ext>
                </a:extLst>
              </a:tr>
              <a:tr h="1256906">
                <a:tc>
                  <a:txBody>
                    <a:bodyPr/>
                    <a:lstStyle/>
                    <a:p>
                      <a:r>
                        <a:rPr lang="en-US" sz="2400" dirty="0">
                          <a:solidFill>
                            <a:schemeClr val="bg2">
                              <a:lumMod val="10000"/>
                            </a:schemeClr>
                          </a:solidFill>
                        </a:rPr>
                        <a:t>Multinomial</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chemeClr val="bg2">
                              <a:lumMod val="10000"/>
                            </a:schemeClr>
                          </a:solidFill>
                        </a:rPr>
                        <a:t>More</a:t>
                      </a:r>
                      <a:r>
                        <a:rPr lang="en-US" sz="2400" baseline="0" dirty="0">
                          <a:solidFill>
                            <a:schemeClr val="bg2">
                              <a:lumMod val="10000"/>
                            </a:schemeClr>
                          </a:solidFill>
                        </a:rPr>
                        <a:t> than two values (Computer Science, Mathematics, Business, Sociology)</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ru-RU" sz="2200" dirty="0"/>
                    </a:p>
                  </a:txBody>
                  <a:tcPr/>
                </a:tc>
                <a:extLst>
                  <a:ext uri="{0D108BD9-81ED-4DB2-BD59-A6C34878D82A}">
                    <a16:rowId xmlns:a16="http://schemas.microsoft.com/office/drawing/2014/main" val="2698959329"/>
                  </a:ext>
                </a:extLst>
              </a:tr>
              <a:tr h="1353239">
                <a:tc>
                  <a:txBody>
                    <a:bodyPr/>
                    <a:lstStyle/>
                    <a:p>
                      <a:r>
                        <a:rPr lang="en-US" sz="2400" dirty="0">
                          <a:solidFill>
                            <a:schemeClr val="bg2">
                              <a:lumMod val="10000"/>
                            </a:schemeClr>
                          </a:solidFill>
                        </a:rPr>
                        <a:t>Ordinal</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2">
                              <a:lumMod val="10000"/>
                            </a:schemeClr>
                          </a:solidFill>
                        </a:rPr>
                        <a:t>More</a:t>
                      </a:r>
                      <a:r>
                        <a:rPr lang="en-US" sz="2400" baseline="0" dirty="0">
                          <a:solidFill>
                            <a:schemeClr val="bg2">
                              <a:lumMod val="10000"/>
                            </a:schemeClr>
                          </a:solidFill>
                        </a:rPr>
                        <a:t> than two values which are ordered (acceptable, good, excellent)</a:t>
                      </a:r>
                      <a:endParaRPr lang="ru-RU" sz="2400" dirty="0">
                        <a:solidFill>
                          <a:schemeClr val="bg2">
                            <a:lumMod val="1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ru-RU" sz="2200" dirty="0"/>
                    </a:p>
                  </a:txBody>
                  <a:tcPr/>
                </a:tc>
                <a:extLst>
                  <a:ext uri="{0D108BD9-81ED-4DB2-BD59-A6C34878D82A}">
                    <a16:rowId xmlns:a16="http://schemas.microsoft.com/office/drawing/2014/main" val="2064118752"/>
                  </a:ext>
                </a:extLst>
              </a:tr>
            </a:tbl>
          </a:graphicData>
        </a:graphic>
      </p:graphicFrame>
    </p:spTree>
    <p:extLst>
      <p:ext uri="{BB962C8B-B14F-4D97-AF65-F5344CB8AC3E}">
        <p14:creationId xmlns:p14="http://schemas.microsoft.com/office/powerpoint/2010/main" val="3025623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Multinomial regression</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71659"/>
            <a:ext cx="10792842" cy="3848315"/>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Multinomial logistic regression is used to model nominal outcome variables. The analysis breaks the outcome variable down into a series of comparisons between two categories.</a:t>
            </a:r>
          </a:p>
          <a:p>
            <a:pPr algn="just"/>
            <a:r>
              <a:rPr lang="en-US" sz="2400" dirty="0">
                <a:solidFill>
                  <a:schemeClr val="bg2">
                    <a:lumMod val="10000"/>
                  </a:schemeClr>
                </a:solidFill>
                <a:latin typeface="Arial" panose="020B0604020202020204" pitchFamily="34" charset="0"/>
                <a:cs typeface="Arial" panose="020B0604020202020204" pitchFamily="34" charset="0"/>
              </a:rPr>
              <a:t>	If we have three outcome categories (A, B and C), then the analysis will consist of two comparisons. The form that these comparisons take depends on how we have selected a baseline category. The important parts of the analysis and output are much the same as binary logistic regression.</a:t>
            </a:r>
          </a:p>
          <a:p>
            <a:pPr algn="just"/>
            <a:r>
              <a:rPr lang="en-US" sz="2400" dirty="0">
                <a:solidFill>
                  <a:schemeClr val="bg2">
                    <a:lumMod val="10000"/>
                  </a:schemeClr>
                </a:solidFill>
                <a:latin typeface="Arial" panose="020B0604020202020204" pitchFamily="34" charset="0"/>
                <a:cs typeface="Arial" panose="020B0604020202020204" pitchFamily="34" charset="0"/>
              </a:rPr>
              <a:t>	We will calculate the probability that the case belongs to each of the groups, that are formed based on the values of the dependent variable. We will predict that according to the model a case belongs to the group with maximum probability.</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67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272914"/>
            <a:ext cx="11057955" cy="777025"/>
          </a:xfrm>
        </p:spPr>
        <p:txBody>
          <a:bodyPr>
            <a:noAutofit/>
          </a:bodyPr>
          <a:lstStyle/>
          <a:p>
            <a:r>
              <a:rPr lang="en-US" sz="3700" b="1" dirty="0">
                <a:latin typeface="Arial" panose="020B0604020202020204" pitchFamily="34" charset="0"/>
                <a:cs typeface="Arial" panose="020B0604020202020204" pitchFamily="34" charset="0"/>
              </a:rPr>
              <a:t>Multinomial logistic regression</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12667"/>
            <a:ext cx="10792842" cy="3848315"/>
          </a:xfrm>
        </p:spPr>
        <p:txBody>
          <a:bodyPr numCol="1"/>
          <a:lstStyle/>
          <a:p>
            <a:pPr algn="just">
              <a:spcBef>
                <a:spcPts val="0"/>
              </a:spcBef>
            </a:pPr>
            <a:r>
              <a:rPr lang="en-US" sz="2200" dirty="0">
                <a:solidFill>
                  <a:schemeClr val="bg2">
                    <a:lumMod val="10000"/>
                  </a:schemeClr>
                </a:solidFill>
                <a:latin typeface="Arial" panose="020B0604020202020204" pitchFamily="34" charset="0"/>
                <a:cs typeface="Arial" panose="020B0604020202020204" pitchFamily="34" charset="0"/>
              </a:rPr>
              <a:t>Dependent Variable: recommended specialization for a student</a:t>
            </a:r>
          </a:p>
          <a:p>
            <a:pPr algn="just">
              <a:spcBef>
                <a:spcPts val="0"/>
              </a:spcBef>
            </a:pPr>
            <a:r>
              <a:rPr lang="en-US" sz="2200" dirty="0">
                <a:solidFill>
                  <a:schemeClr val="bg2">
                    <a:lumMod val="10000"/>
                  </a:schemeClr>
                </a:solidFill>
                <a:latin typeface="Arial" panose="020B0604020202020204" pitchFamily="34" charset="0"/>
                <a:cs typeface="Arial" panose="020B0604020202020204" pitchFamily="34" charset="0"/>
              </a:rPr>
              <a:t>Values of the Dependent Variable:</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Software Engineering,</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Data Science,</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Business Analytics,</a:t>
            </a:r>
          </a:p>
          <a:p>
            <a:pPr marL="342900" indent="-342900" algn="just">
              <a:spcBef>
                <a:spcPts val="0"/>
              </a:spcBef>
              <a:buFont typeface="Arial" panose="020B0604020202020204" pitchFamily="34" charset="0"/>
              <a:buChar char="•"/>
            </a:pPr>
            <a:r>
              <a:rPr lang="en-US" sz="2200" b="1" u="sng" dirty="0">
                <a:solidFill>
                  <a:schemeClr val="bg2">
                    <a:lumMod val="10000"/>
                  </a:schemeClr>
                </a:solidFill>
                <a:latin typeface="Arial" panose="020B0604020202020204" pitchFamily="34" charset="0"/>
                <a:cs typeface="Arial" panose="020B0604020202020204" pitchFamily="34" charset="0"/>
              </a:rPr>
              <a:t>Computer Science</a:t>
            </a:r>
            <a:r>
              <a:rPr lang="ru-RU" sz="2200" b="1" u="sng" dirty="0">
                <a:solidFill>
                  <a:schemeClr val="bg2">
                    <a:lumMod val="10000"/>
                  </a:schemeClr>
                </a:solidFill>
                <a:latin typeface="Arial" panose="020B0604020202020204" pitchFamily="34" charset="0"/>
                <a:cs typeface="Arial" panose="020B0604020202020204" pitchFamily="34" charset="0"/>
              </a:rPr>
              <a:t> </a:t>
            </a:r>
            <a:r>
              <a:rPr lang="ru-BY" sz="2200" b="1" u="sng" dirty="0">
                <a:solidFill>
                  <a:schemeClr val="bg2">
                    <a:lumMod val="10000"/>
                  </a:schemeClr>
                </a:solidFill>
                <a:latin typeface="Arial" panose="020B0604020202020204" pitchFamily="34" charset="0"/>
                <a:cs typeface="Arial" panose="020B0604020202020204" pitchFamily="34" charset="0"/>
              </a:rPr>
              <a:t>(</a:t>
            </a:r>
            <a:r>
              <a:rPr lang="en-US" sz="2200" b="1" u="sng" dirty="0">
                <a:solidFill>
                  <a:schemeClr val="bg2">
                    <a:lumMod val="10000"/>
                  </a:schemeClr>
                </a:solidFill>
                <a:latin typeface="Arial" panose="020B0604020202020204" pitchFamily="34" charset="0"/>
                <a:cs typeface="Arial" panose="020B0604020202020204" pitchFamily="34" charset="0"/>
              </a:rPr>
              <a:t>baseline category)</a:t>
            </a:r>
            <a:r>
              <a:rPr lang="en-US" sz="2200" dirty="0">
                <a:solidFill>
                  <a:schemeClr val="bg2">
                    <a:lumMod val="10000"/>
                  </a:schemeClr>
                </a:solidFill>
                <a:latin typeface="Arial" panose="020B0604020202020204" pitchFamily="34" charset="0"/>
                <a:cs typeface="Arial" panose="020B0604020202020204" pitchFamily="34" charset="0"/>
              </a:rPr>
              <a:t>,</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Applied Mathematics.</a:t>
            </a:r>
          </a:p>
          <a:p>
            <a:pPr algn="just">
              <a:spcBef>
                <a:spcPts val="0"/>
              </a:spcBef>
            </a:pPr>
            <a:endParaRPr lang="en-US" sz="2200" dirty="0">
              <a:solidFill>
                <a:schemeClr val="bg2">
                  <a:lumMod val="10000"/>
                </a:schemeClr>
              </a:solidFill>
              <a:latin typeface="Arial" panose="020B0604020202020204" pitchFamily="34" charset="0"/>
              <a:cs typeface="Arial" panose="020B0604020202020204" pitchFamily="34" charset="0"/>
            </a:endParaRPr>
          </a:p>
          <a:p>
            <a:pPr algn="just">
              <a:spcBef>
                <a:spcPts val="0"/>
              </a:spcBef>
            </a:pPr>
            <a:r>
              <a:rPr lang="en-US" sz="2200" dirty="0">
                <a:solidFill>
                  <a:schemeClr val="bg2">
                    <a:lumMod val="10000"/>
                  </a:schemeClr>
                </a:solidFill>
                <a:latin typeface="Arial" panose="020B0604020202020204" pitchFamily="34" charset="0"/>
                <a:cs typeface="Arial" panose="020B0604020202020204" pitchFamily="34" charset="0"/>
              </a:rPr>
              <a:t>We will test 4 binary models:</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Software Engineering vs. Computer Science</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Data Science vs. Computer Science</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Business Analytics vs. Computer Science</a:t>
            </a:r>
          </a:p>
          <a:p>
            <a:pPr marL="342900" indent="-342900" algn="just">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rPr>
              <a:t>Applied Mathematics vs. Computer Science</a:t>
            </a:r>
          </a:p>
          <a:p>
            <a:pPr algn="just">
              <a:spcBef>
                <a:spcPts val="0"/>
              </a:spcBef>
            </a:pPr>
            <a:endParaRPr lang="en-US" sz="2200" dirty="0">
              <a:solidFill>
                <a:schemeClr val="bg2">
                  <a:lumMod val="10000"/>
                </a:schemeClr>
              </a:solidFill>
              <a:latin typeface="Arial" panose="020B0604020202020204" pitchFamily="34" charset="0"/>
              <a:cs typeface="Arial" panose="020B0604020202020204" pitchFamily="34" charset="0"/>
            </a:endParaRPr>
          </a:p>
          <a:p>
            <a:pPr marL="342900" indent="-342900" algn="just">
              <a:spcBef>
                <a:spcPts val="0"/>
              </a:spcBef>
              <a:buFont typeface="Arial" panose="020B0604020202020204" pitchFamily="34" charset="0"/>
              <a:buChar char="•"/>
            </a:pPr>
            <a:endParaRPr lang="en-US" sz="2200" dirty="0">
              <a:solidFill>
                <a:schemeClr val="bg2">
                  <a:lumMod val="10000"/>
                </a:schemeClr>
              </a:solidFill>
              <a:latin typeface="Arial" panose="020B0604020202020204" pitchFamily="34" charset="0"/>
              <a:cs typeface="Arial" panose="020B0604020202020204" pitchFamily="34" charset="0"/>
            </a:endParaRPr>
          </a:p>
          <a:p>
            <a:pPr algn="just">
              <a:spcBef>
                <a:spcPts val="0"/>
              </a:spcBef>
            </a:pPr>
            <a:endParaRPr lang="en-US" sz="2200" dirty="0">
              <a:solidFill>
                <a:schemeClr val="bg2">
                  <a:lumMod val="10000"/>
                </a:schemeClr>
              </a:solidFill>
              <a:latin typeface="Arial" panose="020B0604020202020204" pitchFamily="34" charset="0"/>
              <a:cs typeface="Arial" panose="020B0604020202020204" pitchFamily="34" charset="0"/>
            </a:endParaRPr>
          </a:p>
          <a:p>
            <a:pPr marL="342900" indent="-342900" algn="just">
              <a:spcBef>
                <a:spcPts val="0"/>
              </a:spcBef>
              <a:buFont typeface="Arial" panose="020B0604020202020204" pitchFamily="34" charset="0"/>
              <a:buChar char="•"/>
            </a:pPr>
            <a:endParaRPr lang="en-US" sz="22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2127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Preliminary Data Analysis</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71659"/>
            <a:ext cx="10792842" cy="3848315"/>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Frequency and contingency tables could help to reveal the completeness of information representation in the dataset and identify some trends and relationships.</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727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Interpreting Results</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57702"/>
          <a:stretch/>
        </p:blipFill>
        <p:spPr bwMode="auto">
          <a:xfrm>
            <a:off x="6345398" y="1631868"/>
            <a:ext cx="3606322" cy="370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Прямоугольник 8"/>
          <p:cNvSpPr/>
          <p:nvPr/>
        </p:nvSpPr>
        <p:spPr>
          <a:xfrm>
            <a:off x="7865650" y="2906160"/>
            <a:ext cx="864096" cy="216024"/>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10" name="Rectangle 21"/>
          <p:cNvSpPr>
            <a:spLocks noChangeArrowheads="1"/>
          </p:cNvSpPr>
          <p:nvPr/>
        </p:nvSpPr>
        <p:spPr bwMode="auto">
          <a:xfrm>
            <a:off x="585897" y="2124196"/>
            <a:ext cx="5395291" cy="4370961"/>
          </a:xfrm>
          <a:prstGeom prst="rect">
            <a:avLst/>
          </a:prstGeom>
          <a:noFill/>
          <a:ln w="9525">
            <a:noFill/>
            <a:miter lim="800000"/>
            <a:headEnd/>
            <a:tailEnd/>
          </a:ln>
          <a:effectLst/>
        </p:spPr>
        <p:txBody>
          <a:bodyPr/>
          <a:lstStyle/>
          <a:p>
            <a:pPr algn="just"/>
            <a:r>
              <a:rPr lang="en-US" sz="2100" dirty="0">
                <a:solidFill>
                  <a:schemeClr val="bg2">
                    <a:lumMod val="10000"/>
                  </a:schemeClr>
                </a:solidFill>
                <a:latin typeface="Arial" panose="020B0604020202020204" pitchFamily="34" charset="0"/>
                <a:cs typeface="Arial" panose="020B0604020202020204" pitchFamily="34" charset="0"/>
              </a:rPr>
              <a:t>Gender</a:t>
            </a:r>
            <a:r>
              <a:rPr lang="ru-RU" sz="2100" dirty="0">
                <a:solidFill>
                  <a:schemeClr val="bg2">
                    <a:lumMod val="10000"/>
                  </a:schemeClr>
                </a:solidFill>
                <a:latin typeface="Arial" panose="020B0604020202020204" pitchFamily="34" charset="0"/>
                <a:cs typeface="Arial" panose="020B0604020202020204" pitchFamily="34" charset="0"/>
              </a:rPr>
              <a:t> </a:t>
            </a:r>
            <a:r>
              <a:rPr lang="en-US" sz="2100" dirty="0">
                <a:solidFill>
                  <a:schemeClr val="bg2">
                    <a:lumMod val="10000"/>
                  </a:schemeClr>
                </a:solidFill>
                <a:latin typeface="Arial" panose="020B0604020202020204" pitchFamily="34" charset="0"/>
                <a:cs typeface="Arial" panose="020B0604020202020204" pitchFamily="34" charset="0"/>
              </a:rPr>
              <a:t>: </a:t>
            </a:r>
            <a:r>
              <a:rPr lang="ru-RU" sz="2100" dirty="0">
                <a:solidFill>
                  <a:schemeClr val="bg2">
                    <a:lumMod val="10000"/>
                  </a:schemeClr>
                </a:solidFill>
                <a:latin typeface="Arial" panose="020B0604020202020204" pitchFamily="34" charset="0"/>
                <a:cs typeface="Arial" panose="020B0604020202020204" pitchFamily="34" charset="0"/>
              </a:rPr>
              <a:t>1</a:t>
            </a:r>
            <a:r>
              <a:rPr lang="en-US" sz="2100" dirty="0">
                <a:solidFill>
                  <a:schemeClr val="bg2">
                    <a:lumMod val="10000"/>
                  </a:schemeClr>
                </a:solidFill>
                <a:latin typeface="Arial" panose="020B0604020202020204" pitchFamily="34" charset="0"/>
                <a:cs typeface="Arial" panose="020B0604020202020204" pitchFamily="34" charset="0"/>
              </a:rPr>
              <a:t> – male</a:t>
            </a:r>
            <a:r>
              <a:rPr lang="ru-RU" sz="2100" dirty="0">
                <a:solidFill>
                  <a:schemeClr val="bg2">
                    <a:lumMod val="10000"/>
                  </a:schemeClr>
                </a:solidFill>
                <a:latin typeface="Arial" panose="020B0604020202020204" pitchFamily="34" charset="0"/>
                <a:cs typeface="Arial" panose="020B0604020202020204" pitchFamily="34" charset="0"/>
              </a:rPr>
              <a:t>, 0</a:t>
            </a:r>
            <a:r>
              <a:rPr lang="en-US" sz="2100" dirty="0">
                <a:solidFill>
                  <a:schemeClr val="bg2">
                    <a:lumMod val="10000"/>
                  </a:schemeClr>
                </a:solidFill>
                <a:latin typeface="Arial" panose="020B0604020202020204" pitchFamily="34" charset="0"/>
                <a:cs typeface="Arial" panose="020B0604020202020204" pitchFamily="34" charset="0"/>
              </a:rPr>
              <a:t> – female (reference group</a:t>
            </a:r>
            <a:r>
              <a:rPr lang="ru-RU" sz="2100" dirty="0">
                <a:solidFill>
                  <a:schemeClr val="bg2">
                    <a:lumMod val="10000"/>
                  </a:schemeClr>
                </a:solidFill>
                <a:latin typeface="Arial" panose="020B0604020202020204" pitchFamily="34" charset="0"/>
                <a:cs typeface="Arial" panose="020B0604020202020204" pitchFamily="34" charset="0"/>
              </a:rPr>
              <a:t>) </a:t>
            </a:r>
            <a:endParaRPr lang="en-US" sz="2100" dirty="0">
              <a:solidFill>
                <a:schemeClr val="bg2">
                  <a:lumMod val="10000"/>
                </a:schemeClr>
              </a:solidFill>
              <a:latin typeface="Arial" panose="020B0604020202020204" pitchFamily="34" charset="0"/>
              <a:cs typeface="Arial" panose="020B0604020202020204" pitchFamily="34" charset="0"/>
            </a:endParaRPr>
          </a:p>
          <a:p>
            <a:pPr algn="just"/>
            <a:r>
              <a:rPr lang="en-US" sz="2100" dirty="0">
                <a:solidFill>
                  <a:schemeClr val="bg2">
                    <a:lumMod val="10000"/>
                  </a:schemeClr>
                </a:solidFill>
                <a:latin typeface="Arial" panose="020B0604020202020204" pitchFamily="34" charset="0"/>
                <a:cs typeface="Arial" panose="020B0604020202020204" pitchFamily="34" charset="0"/>
              </a:rPr>
              <a:t>Dependent variable has 3 values</a:t>
            </a:r>
            <a:r>
              <a:rPr lang="ru-RU" sz="2100" dirty="0">
                <a:solidFill>
                  <a:schemeClr val="bg2">
                    <a:lumMod val="10000"/>
                  </a:schemeClr>
                </a:solidFill>
                <a:latin typeface="Arial" panose="020B0604020202020204" pitchFamily="34" charset="0"/>
                <a:cs typeface="Arial" panose="020B0604020202020204" pitchFamily="34" charset="0"/>
              </a:rPr>
              <a:t>: </a:t>
            </a:r>
            <a:r>
              <a:rPr lang="en-US" sz="2100" dirty="0">
                <a:solidFill>
                  <a:schemeClr val="bg2">
                    <a:lumMod val="10000"/>
                  </a:schemeClr>
                </a:solidFill>
                <a:latin typeface="Arial" panose="020B0604020202020204" pitchFamily="34" charset="0"/>
                <a:cs typeface="Arial" panose="020B0604020202020204" pitchFamily="34" charset="0"/>
              </a:rPr>
              <a:t>Breakfast bar</a:t>
            </a:r>
            <a:r>
              <a:rPr lang="ru-RU" sz="2100" dirty="0">
                <a:solidFill>
                  <a:schemeClr val="bg2">
                    <a:lumMod val="10000"/>
                  </a:schemeClr>
                </a:solidFill>
                <a:latin typeface="Arial" panose="020B0604020202020204" pitchFamily="34" charset="0"/>
                <a:cs typeface="Arial" panose="020B0604020202020204" pitchFamily="34" charset="0"/>
              </a:rPr>
              <a:t>, </a:t>
            </a:r>
            <a:r>
              <a:rPr lang="en-US" sz="2100" dirty="0">
                <a:solidFill>
                  <a:schemeClr val="bg2">
                    <a:lumMod val="10000"/>
                  </a:schemeClr>
                </a:solidFill>
                <a:latin typeface="Arial" panose="020B0604020202020204" pitchFamily="34" charset="0"/>
                <a:cs typeface="Arial" panose="020B0604020202020204" pitchFamily="34" charset="0"/>
              </a:rPr>
              <a:t>Oatmeal</a:t>
            </a:r>
            <a:r>
              <a:rPr lang="ru-RU" sz="2100" dirty="0">
                <a:solidFill>
                  <a:schemeClr val="bg2">
                    <a:lumMod val="10000"/>
                  </a:schemeClr>
                </a:solidFill>
                <a:latin typeface="Arial" panose="020B0604020202020204" pitchFamily="34" charset="0"/>
                <a:cs typeface="Arial" panose="020B0604020202020204" pitchFamily="34" charset="0"/>
              </a:rPr>
              <a:t>, </a:t>
            </a:r>
            <a:r>
              <a:rPr lang="en-US" sz="2100" dirty="0">
                <a:solidFill>
                  <a:schemeClr val="bg2">
                    <a:lumMod val="10000"/>
                  </a:schemeClr>
                </a:solidFill>
                <a:latin typeface="Arial" panose="020B0604020202020204" pitchFamily="34" charset="0"/>
                <a:cs typeface="Arial" panose="020B0604020202020204" pitchFamily="34" charset="0"/>
              </a:rPr>
              <a:t>Cereal</a:t>
            </a:r>
            <a:r>
              <a:rPr lang="ru-RU" sz="2100" dirty="0">
                <a:solidFill>
                  <a:schemeClr val="bg2">
                    <a:lumMod val="10000"/>
                  </a:schemeClr>
                </a:solidFill>
                <a:latin typeface="Arial" panose="020B0604020202020204" pitchFamily="34" charset="0"/>
                <a:cs typeface="Arial" panose="020B0604020202020204" pitchFamily="34" charset="0"/>
              </a:rPr>
              <a:t> </a:t>
            </a:r>
            <a:r>
              <a:rPr lang="en-US" sz="2100" dirty="0">
                <a:solidFill>
                  <a:schemeClr val="bg2">
                    <a:lumMod val="10000"/>
                  </a:schemeClr>
                </a:solidFill>
                <a:latin typeface="Arial" panose="020B0604020202020204" pitchFamily="34" charset="0"/>
                <a:cs typeface="Arial" panose="020B0604020202020204" pitchFamily="34" charset="0"/>
              </a:rPr>
              <a:t> (baseline category)</a:t>
            </a:r>
            <a:r>
              <a:rPr lang="ru-RU" sz="2100" dirty="0">
                <a:solidFill>
                  <a:schemeClr val="bg2">
                    <a:lumMod val="10000"/>
                  </a:schemeClr>
                </a:solidFill>
                <a:latin typeface="Arial" panose="020B0604020202020204" pitchFamily="34" charset="0"/>
                <a:cs typeface="Arial" panose="020B0604020202020204" pitchFamily="34" charset="0"/>
              </a:rPr>
              <a:t>.</a:t>
            </a:r>
          </a:p>
          <a:p>
            <a:pPr algn="just"/>
            <a:r>
              <a:rPr lang="en-US" sz="2100" dirty="0">
                <a:solidFill>
                  <a:schemeClr val="bg2">
                    <a:lumMod val="10000"/>
                  </a:schemeClr>
                </a:solidFill>
                <a:latin typeface="Arial" panose="020B0604020202020204" pitchFamily="34" charset="0"/>
                <a:cs typeface="Arial" panose="020B0604020202020204" pitchFamily="34" charset="0"/>
              </a:rPr>
              <a:t>Question: How the gender influences the breakfast choice?</a:t>
            </a:r>
          </a:p>
          <a:p>
            <a:pPr algn="just"/>
            <a:endParaRPr lang="en-US" sz="2100" dirty="0">
              <a:solidFill>
                <a:schemeClr val="bg2">
                  <a:lumMod val="10000"/>
                </a:schemeClr>
              </a:solidFill>
              <a:latin typeface="Arial" panose="020B0604020202020204" pitchFamily="34" charset="0"/>
              <a:cs typeface="Arial" panose="020B0604020202020204" pitchFamily="34" charset="0"/>
            </a:endParaRPr>
          </a:p>
          <a:p>
            <a:pPr algn="just"/>
            <a:r>
              <a:rPr lang="ru-RU" sz="2100" dirty="0">
                <a:solidFill>
                  <a:schemeClr val="bg2">
                    <a:lumMod val="10000"/>
                  </a:schemeClr>
                </a:solidFill>
                <a:latin typeface="Arial" panose="020B0604020202020204" pitchFamily="34" charset="0"/>
                <a:cs typeface="Arial" panose="020B0604020202020204" pitchFamily="34" charset="0"/>
              </a:rPr>
              <a:t>(</a:t>
            </a:r>
            <a:r>
              <a:rPr lang="en-US" sz="2100" dirty="0">
                <a:solidFill>
                  <a:schemeClr val="bg2">
                    <a:lumMod val="10000"/>
                  </a:schemeClr>
                </a:solidFill>
                <a:latin typeface="Arial" panose="020B0604020202020204" pitchFamily="34" charset="0"/>
                <a:cs typeface="Arial" panose="020B0604020202020204" pitchFamily="34" charset="0"/>
              </a:rPr>
              <a:t>-,147</a:t>
            </a:r>
            <a:r>
              <a:rPr lang="ru-RU" sz="2100" dirty="0">
                <a:solidFill>
                  <a:schemeClr val="bg2">
                    <a:lumMod val="10000"/>
                  </a:schemeClr>
                </a:solidFill>
                <a:latin typeface="Arial" panose="020B0604020202020204" pitchFamily="34" charset="0"/>
                <a:cs typeface="Arial" panose="020B0604020202020204" pitchFamily="34" charset="0"/>
              </a:rPr>
              <a:t>)</a:t>
            </a:r>
            <a:r>
              <a:rPr lang="en-US" sz="2100" dirty="0">
                <a:solidFill>
                  <a:schemeClr val="bg2">
                    <a:lumMod val="10000"/>
                  </a:schemeClr>
                </a:solidFill>
                <a:latin typeface="Arial" panose="020B0604020202020204" pitchFamily="34" charset="0"/>
                <a:cs typeface="Arial" panose="020B0604020202020204" pitchFamily="34" charset="0"/>
              </a:rPr>
              <a:t> – males compared to females are less likely to go for Breakfast bar rather than Cereal</a:t>
            </a:r>
            <a:r>
              <a:rPr lang="ru-RU" sz="2100" dirty="0">
                <a:solidFill>
                  <a:schemeClr val="bg2">
                    <a:lumMod val="10000"/>
                  </a:schemeClr>
                </a:solidFill>
                <a:latin typeface="Arial" panose="020B0604020202020204" pitchFamily="34" charset="0"/>
                <a:cs typeface="Arial" panose="020B0604020202020204" pitchFamily="34" charset="0"/>
              </a:rPr>
              <a:t>.</a:t>
            </a:r>
          </a:p>
          <a:p>
            <a:pPr algn="just"/>
            <a:r>
              <a:rPr lang="ru-RU" sz="2100" dirty="0">
                <a:solidFill>
                  <a:schemeClr val="bg2">
                    <a:lumMod val="10000"/>
                  </a:schemeClr>
                </a:solidFill>
                <a:latin typeface="Arial" panose="020B0604020202020204" pitchFamily="34" charset="0"/>
                <a:cs typeface="Arial" panose="020B0604020202020204" pitchFamily="34" charset="0"/>
              </a:rPr>
              <a:t>(</a:t>
            </a:r>
            <a:r>
              <a:rPr lang="en-US" sz="2100" dirty="0">
                <a:solidFill>
                  <a:schemeClr val="bg2">
                    <a:lumMod val="10000"/>
                  </a:schemeClr>
                </a:solidFill>
                <a:latin typeface="Arial" panose="020B0604020202020204" pitchFamily="34" charset="0"/>
                <a:cs typeface="Arial" panose="020B0604020202020204" pitchFamily="34" charset="0"/>
              </a:rPr>
              <a:t>,</a:t>
            </a:r>
            <a:r>
              <a:rPr lang="ru-RU" sz="2100" dirty="0">
                <a:solidFill>
                  <a:schemeClr val="bg2">
                    <a:lumMod val="10000"/>
                  </a:schemeClr>
                </a:solidFill>
                <a:latin typeface="Arial" panose="020B0604020202020204" pitchFamily="34" charset="0"/>
                <a:cs typeface="Arial" panose="020B0604020202020204" pitchFamily="34" charset="0"/>
              </a:rPr>
              <a:t>053)</a:t>
            </a:r>
            <a:r>
              <a:rPr lang="en-US" sz="2100" dirty="0">
                <a:solidFill>
                  <a:schemeClr val="bg2">
                    <a:lumMod val="10000"/>
                  </a:schemeClr>
                </a:solidFill>
                <a:latin typeface="Arial" panose="020B0604020202020204" pitchFamily="34" charset="0"/>
                <a:cs typeface="Arial" panose="020B0604020202020204" pitchFamily="34" charset="0"/>
              </a:rPr>
              <a:t> – males compared to females are more likely to go for Oatmeal rather than Cereal</a:t>
            </a:r>
            <a:r>
              <a:rPr lang="ru-RU" sz="2100" dirty="0">
                <a:solidFill>
                  <a:schemeClr val="bg2">
                    <a:lumMod val="10000"/>
                  </a:schemeClr>
                </a:solidFill>
                <a:latin typeface="Arial" panose="020B0604020202020204" pitchFamily="34" charset="0"/>
                <a:cs typeface="Arial" panose="020B0604020202020204" pitchFamily="34" charset="0"/>
              </a:rPr>
              <a:t>.</a:t>
            </a:r>
            <a:endParaRPr lang="en-US" sz="2100" dirty="0">
              <a:solidFill>
                <a:schemeClr val="bg2">
                  <a:lumMod val="10000"/>
                </a:schemeClr>
              </a:solidFill>
              <a:latin typeface="Arial" panose="020B0604020202020204" pitchFamily="34" charset="0"/>
              <a:cs typeface="Arial" panose="020B0604020202020204" pitchFamily="34" charset="0"/>
            </a:endParaRPr>
          </a:p>
          <a:p>
            <a:pPr algn="just"/>
            <a:endParaRPr lang="en-US" sz="2100" dirty="0">
              <a:solidFill>
                <a:schemeClr val="bg2">
                  <a:lumMod val="10000"/>
                </a:schemeClr>
              </a:solidFill>
              <a:latin typeface="Arial" panose="020B0604020202020204" pitchFamily="34" charset="0"/>
              <a:cs typeface="Arial" panose="020B0604020202020204" pitchFamily="34" charset="0"/>
            </a:endParaRPr>
          </a:p>
          <a:p>
            <a:pPr algn="just"/>
            <a:endParaRPr lang="en-US" sz="2100" dirty="0">
              <a:solidFill>
                <a:schemeClr val="bg2">
                  <a:lumMod val="10000"/>
                </a:schemeClr>
              </a:solidFill>
              <a:latin typeface="Arial" panose="020B0604020202020204" pitchFamily="34" charset="0"/>
              <a:cs typeface="Arial" panose="020B0604020202020204" pitchFamily="34" charset="0"/>
            </a:endParaRPr>
          </a:p>
          <a:p>
            <a:pPr algn="just"/>
            <a:endParaRPr lang="ru-RU" sz="2100" dirty="0">
              <a:solidFill>
                <a:schemeClr val="bg2">
                  <a:lumMod val="10000"/>
                </a:schemeClr>
              </a:solidFill>
              <a:latin typeface="Arial" panose="020B0604020202020204" pitchFamily="34" charset="0"/>
              <a:cs typeface="Arial" panose="020B0604020202020204" pitchFamily="34" charset="0"/>
            </a:endParaRPr>
          </a:p>
        </p:txBody>
      </p:sp>
      <p:sp>
        <p:nvSpPr>
          <p:cNvPr id="12" name="Прямоугольник 11"/>
          <p:cNvSpPr/>
          <p:nvPr/>
        </p:nvSpPr>
        <p:spPr>
          <a:xfrm>
            <a:off x="7865650" y="4003440"/>
            <a:ext cx="864096" cy="216024"/>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13" name="Прямоугольник 12"/>
          <p:cNvSpPr/>
          <p:nvPr/>
        </p:nvSpPr>
        <p:spPr>
          <a:xfrm>
            <a:off x="6312144" y="5295105"/>
            <a:ext cx="5331708" cy="1015663"/>
          </a:xfrm>
          <a:prstGeom prst="rect">
            <a:avLst/>
          </a:prstGeom>
        </p:spPr>
        <p:txBody>
          <a:bodyPr wrap="square">
            <a:spAutoFit/>
          </a:bodyPr>
          <a:lstStyle/>
          <a:p>
            <a:pPr algn="just"/>
            <a:r>
              <a:rPr lang="en-US" sz="2000" dirty="0">
                <a:solidFill>
                  <a:schemeClr val="bg2">
                    <a:lumMod val="10000"/>
                  </a:schemeClr>
                </a:solidFill>
                <a:latin typeface="Arial" panose="020B0604020202020204" pitchFamily="34" charset="0"/>
                <a:cs typeface="Arial" panose="020B0604020202020204" pitchFamily="34" charset="0"/>
              </a:rPr>
              <a:t>Positive B coefficient indicates that as the predictor increases the chance to be in the current category increases.</a:t>
            </a:r>
          </a:p>
        </p:txBody>
      </p:sp>
    </p:spTree>
    <p:extLst>
      <p:ext uri="{BB962C8B-B14F-4D97-AF65-F5344CB8AC3E}">
        <p14:creationId xmlns:p14="http://schemas.microsoft.com/office/powerpoint/2010/main" val="2243292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Results Interpretation</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
        <p:nvSpPr>
          <p:cNvPr id="14" name="Прямоугольник 13"/>
          <p:cNvSpPr/>
          <p:nvPr/>
        </p:nvSpPr>
        <p:spPr>
          <a:xfrm>
            <a:off x="8559335" y="3328772"/>
            <a:ext cx="864096" cy="216024"/>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16" name="Rectangle 21"/>
          <p:cNvSpPr>
            <a:spLocks noChangeArrowheads="1"/>
          </p:cNvSpPr>
          <p:nvPr/>
        </p:nvSpPr>
        <p:spPr bwMode="auto">
          <a:xfrm>
            <a:off x="455617" y="2610121"/>
            <a:ext cx="5895080" cy="3096344"/>
          </a:xfrm>
          <a:prstGeom prst="rect">
            <a:avLst/>
          </a:prstGeom>
          <a:noFill/>
          <a:ln w="9525">
            <a:noFill/>
            <a:miter lim="800000"/>
            <a:headEnd/>
            <a:tailEnd/>
          </a:ln>
          <a:effectLst/>
        </p:spPr>
        <p:txBody>
          <a:bodyPr/>
          <a:lstStyle/>
          <a:p>
            <a:pPr algn="just"/>
            <a:r>
              <a:rPr lang="en-US" sz="2000" dirty="0">
                <a:solidFill>
                  <a:schemeClr val="bg2">
                    <a:lumMod val="10000"/>
                  </a:schemeClr>
                </a:solidFill>
                <a:latin typeface="Arial" panose="020B0604020202020204" pitchFamily="34" charset="0"/>
                <a:cs typeface="Arial" panose="020B0604020202020204" pitchFamily="34" charset="0"/>
              </a:rPr>
              <a:t>OR = </a:t>
            </a:r>
            <a:r>
              <a:rPr lang="en-US" sz="2000" dirty="0" err="1">
                <a:solidFill>
                  <a:schemeClr val="bg2">
                    <a:lumMod val="10000"/>
                  </a:schemeClr>
                </a:solidFill>
                <a:latin typeface="Arial" panose="020B0604020202020204" pitchFamily="34" charset="0"/>
                <a:cs typeface="Arial" panose="020B0604020202020204" pitchFamily="34" charset="0"/>
              </a:rPr>
              <a:t>ODDSm</a:t>
            </a:r>
            <a:r>
              <a:rPr lang="en-US" sz="2000" dirty="0">
                <a:solidFill>
                  <a:schemeClr val="bg2">
                    <a:lumMod val="10000"/>
                  </a:schemeClr>
                </a:solidFill>
                <a:latin typeface="Arial" panose="020B0604020202020204" pitchFamily="34" charset="0"/>
                <a:cs typeface="Arial" panose="020B0604020202020204" pitchFamily="34" charset="0"/>
              </a:rPr>
              <a:t>/</a:t>
            </a:r>
            <a:r>
              <a:rPr lang="en-US" sz="2000" dirty="0" err="1">
                <a:solidFill>
                  <a:schemeClr val="bg2">
                    <a:lumMod val="10000"/>
                  </a:schemeClr>
                </a:solidFill>
                <a:latin typeface="Arial" panose="020B0604020202020204" pitchFamily="34" charset="0"/>
                <a:cs typeface="Arial" panose="020B0604020202020204" pitchFamily="34" charset="0"/>
              </a:rPr>
              <a:t>ODDSf</a:t>
            </a:r>
            <a:r>
              <a:rPr lang="ru-RU" sz="2000" dirty="0">
                <a:solidFill>
                  <a:schemeClr val="bg2">
                    <a:lumMod val="10000"/>
                  </a:schemeClr>
                </a:solidFill>
                <a:latin typeface="Arial" panose="020B0604020202020204" pitchFamily="34" charset="0"/>
                <a:cs typeface="Arial" panose="020B0604020202020204" pitchFamily="34" charset="0"/>
              </a:rPr>
              <a:t> </a:t>
            </a:r>
            <a:r>
              <a:rPr lang="en-US" sz="2000" dirty="0">
                <a:solidFill>
                  <a:schemeClr val="bg2">
                    <a:lumMod val="10000"/>
                  </a:schemeClr>
                </a:solidFill>
                <a:latin typeface="Arial" panose="020B0604020202020204" pitchFamily="34" charset="0"/>
                <a:cs typeface="Arial" panose="020B0604020202020204" pitchFamily="34" charset="0"/>
              </a:rPr>
              <a:t>=</a:t>
            </a:r>
            <a:r>
              <a:rPr lang="ru-RU" sz="2000" dirty="0">
                <a:solidFill>
                  <a:schemeClr val="bg2">
                    <a:lumMod val="10000"/>
                  </a:schemeClr>
                </a:solidFill>
                <a:latin typeface="Arial" panose="020B0604020202020204" pitchFamily="34" charset="0"/>
                <a:cs typeface="Arial" panose="020B0604020202020204" pitchFamily="34" charset="0"/>
              </a:rPr>
              <a:t> </a:t>
            </a:r>
            <a:r>
              <a:rPr lang="en-US" sz="2000" dirty="0">
                <a:solidFill>
                  <a:schemeClr val="bg2">
                    <a:lumMod val="10000"/>
                  </a:schemeClr>
                </a:solidFill>
                <a:latin typeface="Arial" panose="020B0604020202020204" pitchFamily="34" charset="0"/>
                <a:cs typeface="Arial" panose="020B0604020202020204" pitchFamily="34" charset="0"/>
              </a:rPr>
              <a:t>0,864 </a:t>
            </a:r>
            <a:r>
              <a:rPr lang="ru-RU" sz="2000" dirty="0">
                <a:solidFill>
                  <a:schemeClr val="bg2">
                    <a:lumMod val="10000"/>
                  </a:schemeClr>
                </a:solidFill>
                <a:latin typeface="Arial" panose="020B0604020202020204" pitchFamily="34" charset="0"/>
                <a:cs typeface="Arial" panose="020B0604020202020204" pitchFamily="34" charset="0"/>
              </a:rPr>
              <a:t>т.е. </a:t>
            </a:r>
            <a:r>
              <a:rPr lang="en-US" sz="2000" dirty="0">
                <a:solidFill>
                  <a:prstClr val="black"/>
                </a:solidFill>
                <a:latin typeface="Arial" panose="020B0604020202020204" pitchFamily="34" charset="0"/>
                <a:cs typeface="Arial" panose="020B0604020202020204" pitchFamily="34" charset="0"/>
              </a:rPr>
              <a:t>odds for males is about 14% lower than odds for females to get Breakfast Bar</a:t>
            </a:r>
            <a:r>
              <a:rPr lang="ru-RU" sz="2000" dirty="0">
                <a:solidFill>
                  <a:prstClr val="black"/>
                </a:solidFill>
                <a:latin typeface="Arial" panose="020B0604020202020204" pitchFamily="34" charset="0"/>
                <a:cs typeface="Arial" panose="020B0604020202020204" pitchFamily="34" charset="0"/>
              </a:rPr>
              <a:t> </a:t>
            </a:r>
            <a:r>
              <a:rPr lang="en-US" sz="2000" dirty="0">
                <a:solidFill>
                  <a:prstClr val="black"/>
                </a:solidFill>
                <a:latin typeface="Arial" panose="020B0604020202020204" pitchFamily="34" charset="0"/>
                <a:cs typeface="Arial" panose="020B0604020202020204" pitchFamily="34" charset="0"/>
              </a:rPr>
              <a:t>instead of Cereal.</a:t>
            </a:r>
          </a:p>
          <a:p>
            <a:pPr algn="just"/>
            <a:endParaRPr lang="en-US" sz="2000" dirty="0">
              <a:solidFill>
                <a:prstClr val="black"/>
              </a:solidFill>
              <a:latin typeface="Arial" panose="020B0604020202020204" pitchFamily="34" charset="0"/>
              <a:cs typeface="Arial" panose="020B0604020202020204" pitchFamily="34" charset="0"/>
            </a:endParaRPr>
          </a:p>
          <a:p>
            <a:pPr algn="just"/>
            <a:r>
              <a:rPr lang="en-US" sz="2000" dirty="0">
                <a:solidFill>
                  <a:schemeClr val="bg2">
                    <a:lumMod val="10000"/>
                  </a:schemeClr>
                </a:solidFill>
                <a:latin typeface="Arial" panose="020B0604020202020204" pitchFamily="34" charset="0"/>
                <a:cs typeface="Arial" panose="020B0604020202020204" pitchFamily="34" charset="0"/>
              </a:rPr>
              <a:t>OR = </a:t>
            </a:r>
            <a:r>
              <a:rPr lang="en-US" sz="2000" dirty="0" err="1">
                <a:solidFill>
                  <a:schemeClr val="bg2">
                    <a:lumMod val="10000"/>
                  </a:schemeClr>
                </a:solidFill>
                <a:latin typeface="Arial" panose="020B0604020202020204" pitchFamily="34" charset="0"/>
                <a:cs typeface="Arial" panose="020B0604020202020204" pitchFamily="34" charset="0"/>
              </a:rPr>
              <a:t>ODDSm</a:t>
            </a:r>
            <a:r>
              <a:rPr lang="en-US" sz="2000" dirty="0">
                <a:solidFill>
                  <a:schemeClr val="bg2">
                    <a:lumMod val="10000"/>
                  </a:schemeClr>
                </a:solidFill>
                <a:latin typeface="Arial" panose="020B0604020202020204" pitchFamily="34" charset="0"/>
                <a:cs typeface="Arial" panose="020B0604020202020204" pitchFamily="34" charset="0"/>
              </a:rPr>
              <a:t>/</a:t>
            </a:r>
            <a:r>
              <a:rPr lang="en-US" sz="2000" dirty="0" err="1">
                <a:solidFill>
                  <a:schemeClr val="bg2">
                    <a:lumMod val="10000"/>
                  </a:schemeClr>
                </a:solidFill>
                <a:latin typeface="Arial" panose="020B0604020202020204" pitchFamily="34" charset="0"/>
                <a:cs typeface="Arial" panose="020B0604020202020204" pitchFamily="34" charset="0"/>
              </a:rPr>
              <a:t>ODDSf</a:t>
            </a:r>
            <a:r>
              <a:rPr lang="ru-RU" sz="2000" dirty="0">
                <a:solidFill>
                  <a:schemeClr val="bg2">
                    <a:lumMod val="10000"/>
                  </a:schemeClr>
                </a:solidFill>
                <a:latin typeface="Arial" panose="020B0604020202020204" pitchFamily="34" charset="0"/>
                <a:cs typeface="Arial" panose="020B0604020202020204" pitchFamily="34" charset="0"/>
              </a:rPr>
              <a:t> </a:t>
            </a:r>
            <a:r>
              <a:rPr lang="en-US" sz="2000" dirty="0">
                <a:solidFill>
                  <a:schemeClr val="bg2">
                    <a:lumMod val="10000"/>
                  </a:schemeClr>
                </a:solidFill>
                <a:latin typeface="Arial" panose="020B0604020202020204" pitchFamily="34" charset="0"/>
                <a:cs typeface="Arial" panose="020B0604020202020204" pitchFamily="34" charset="0"/>
              </a:rPr>
              <a:t>=</a:t>
            </a:r>
            <a:r>
              <a:rPr lang="ru-RU" sz="2000" dirty="0">
                <a:solidFill>
                  <a:schemeClr val="bg2">
                    <a:lumMod val="10000"/>
                  </a:schemeClr>
                </a:solidFill>
                <a:latin typeface="Arial" panose="020B0604020202020204" pitchFamily="34" charset="0"/>
                <a:cs typeface="Arial" panose="020B0604020202020204" pitchFamily="34" charset="0"/>
              </a:rPr>
              <a:t> 1</a:t>
            </a:r>
            <a:r>
              <a:rPr lang="en-US" sz="2000" dirty="0">
                <a:solidFill>
                  <a:schemeClr val="bg2">
                    <a:lumMod val="10000"/>
                  </a:schemeClr>
                </a:solidFill>
                <a:latin typeface="Arial" panose="020B0604020202020204" pitchFamily="34" charset="0"/>
                <a:cs typeface="Arial" panose="020B0604020202020204" pitchFamily="34" charset="0"/>
              </a:rPr>
              <a:t>,</a:t>
            </a:r>
            <a:r>
              <a:rPr lang="ru-RU" sz="2000" dirty="0">
                <a:solidFill>
                  <a:schemeClr val="bg2">
                    <a:lumMod val="10000"/>
                  </a:schemeClr>
                </a:solidFill>
                <a:latin typeface="Arial" panose="020B0604020202020204" pitchFamily="34" charset="0"/>
                <a:cs typeface="Arial" panose="020B0604020202020204" pitchFamily="34" charset="0"/>
              </a:rPr>
              <a:t>05</a:t>
            </a:r>
            <a:r>
              <a:rPr lang="en-US" sz="2000" dirty="0">
                <a:solidFill>
                  <a:schemeClr val="bg2">
                    <a:lumMod val="10000"/>
                  </a:schemeClr>
                </a:solidFill>
                <a:latin typeface="Arial" panose="020B0604020202020204" pitchFamily="34" charset="0"/>
                <a:cs typeface="Arial" panose="020B0604020202020204" pitchFamily="34" charset="0"/>
              </a:rPr>
              <a:t> </a:t>
            </a:r>
            <a:r>
              <a:rPr lang="ru-RU" sz="2000" dirty="0">
                <a:solidFill>
                  <a:schemeClr val="bg2">
                    <a:lumMod val="10000"/>
                  </a:schemeClr>
                </a:solidFill>
                <a:latin typeface="Arial" panose="020B0604020202020204" pitchFamily="34" charset="0"/>
                <a:cs typeface="Arial" panose="020B0604020202020204" pitchFamily="34" charset="0"/>
              </a:rPr>
              <a:t>т.е. </a:t>
            </a:r>
            <a:r>
              <a:rPr lang="en-US" sz="2000" dirty="0">
                <a:solidFill>
                  <a:prstClr val="black"/>
                </a:solidFill>
                <a:latin typeface="Arial" panose="020B0604020202020204" pitchFamily="34" charset="0"/>
                <a:cs typeface="Arial" panose="020B0604020202020204" pitchFamily="34" charset="0"/>
              </a:rPr>
              <a:t>odds for males is about 5% greater than odds for females to get Breakfast Bar</a:t>
            </a:r>
            <a:r>
              <a:rPr lang="ru-RU" sz="2000" dirty="0">
                <a:solidFill>
                  <a:prstClr val="black"/>
                </a:solidFill>
                <a:latin typeface="Arial" panose="020B0604020202020204" pitchFamily="34" charset="0"/>
                <a:cs typeface="Arial" panose="020B0604020202020204" pitchFamily="34" charset="0"/>
              </a:rPr>
              <a:t> </a:t>
            </a:r>
            <a:r>
              <a:rPr lang="en-US" sz="2000" dirty="0">
                <a:solidFill>
                  <a:prstClr val="black"/>
                </a:solidFill>
                <a:latin typeface="Arial" panose="020B0604020202020204" pitchFamily="34" charset="0"/>
                <a:cs typeface="Arial" panose="020B0604020202020204" pitchFamily="34" charset="0"/>
              </a:rPr>
              <a:t>instead of Cereal.</a:t>
            </a:r>
            <a:endParaRPr lang="ru-RU" sz="2000" dirty="0">
              <a:solidFill>
                <a:schemeClr val="bg2">
                  <a:lumMod val="10000"/>
                </a:schemeClr>
              </a:solidFill>
              <a:latin typeface="Arial" panose="020B0604020202020204" pitchFamily="34" charset="0"/>
              <a:cs typeface="Arial" panose="020B0604020202020204" pitchFamily="34" charset="0"/>
            </a:endParaRPr>
          </a:p>
        </p:txBody>
      </p:sp>
      <p:sp>
        <p:nvSpPr>
          <p:cNvPr id="17" name="Прямоугольник 16"/>
          <p:cNvSpPr/>
          <p:nvPr/>
        </p:nvSpPr>
        <p:spPr>
          <a:xfrm>
            <a:off x="8559335" y="4525238"/>
            <a:ext cx="864096" cy="216024"/>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grpSp>
        <p:nvGrpSpPr>
          <p:cNvPr id="7" name="Группа 6">
            <a:extLst>
              <a:ext uri="{FF2B5EF4-FFF2-40B4-BE49-F238E27FC236}">
                <a16:creationId xmlns:a16="http://schemas.microsoft.com/office/drawing/2014/main" id="{0B5CA5E0-F98F-CA0C-4A82-DE28E59D8F3F}"/>
              </a:ext>
            </a:extLst>
          </p:cNvPr>
          <p:cNvGrpSpPr/>
          <p:nvPr/>
        </p:nvGrpSpPr>
        <p:grpSpPr>
          <a:xfrm>
            <a:off x="6810554" y="1919805"/>
            <a:ext cx="3894232" cy="3786660"/>
            <a:chOff x="6810554" y="1443817"/>
            <a:chExt cx="3894232" cy="3786660"/>
          </a:xfrm>
        </p:grpSpPr>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7936"/>
            <a:stretch/>
          </p:blipFill>
          <p:spPr bwMode="auto">
            <a:xfrm>
              <a:off x="6810554" y="1443817"/>
              <a:ext cx="3894232" cy="3786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Прямоугольник 4">
              <a:extLst>
                <a:ext uri="{FF2B5EF4-FFF2-40B4-BE49-F238E27FC236}">
                  <a16:creationId xmlns:a16="http://schemas.microsoft.com/office/drawing/2014/main" id="{72ADC1D0-B918-DE6F-CCA5-4F1361D1B6B9}"/>
                </a:ext>
              </a:extLst>
            </p:cNvPr>
            <p:cNvSpPr/>
            <p:nvPr/>
          </p:nvSpPr>
          <p:spPr>
            <a:xfrm>
              <a:off x="8956110" y="1828800"/>
              <a:ext cx="563671" cy="350729"/>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solidFill>
                    <a:schemeClr val="bg2">
                      <a:lumMod val="10000"/>
                    </a:schemeClr>
                  </a:solidFill>
                  <a:latin typeface="Arial" panose="020B0604020202020204" pitchFamily="34" charset="0"/>
                  <a:cs typeface="Arial" panose="020B0604020202020204" pitchFamily="34" charset="0"/>
                </a:rPr>
                <a:t>OR</a:t>
              </a:r>
              <a:endParaRPr lang="ru-RU" sz="1200" dirty="0">
                <a:solidFill>
                  <a:schemeClr val="bg2">
                    <a:lumMod val="1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75838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184426"/>
            <a:ext cx="11057955" cy="777025"/>
          </a:xfrm>
        </p:spPr>
        <p:txBody>
          <a:bodyPr>
            <a:noAutofit/>
          </a:bodyPr>
          <a:lstStyle/>
          <a:p>
            <a:r>
              <a:rPr lang="en-US" sz="3700" b="1" dirty="0">
                <a:latin typeface="Arial" panose="020B0604020202020204" pitchFamily="34" charset="0"/>
                <a:cs typeface="Arial" panose="020B0604020202020204" pitchFamily="34" charset="0"/>
              </a:rPr>
              <a:t>Results Interpretation</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graphicFrame>
        <p:nvGraphicFramePr>
          <p:cNvPr id="12" name="Таблица 11"/>
          <p:cNvGraphicFramePr>
            <a:graphicFrameLocks noGrp="1"/>
          </p:cNvGraphicFramePr>
          <p:nvPr>
            <p:extLst>
              <p:ext uri="{D42A27DB-BD31-4B8C-83A1-F6EECF244321}">
                <p14:modId xmlns:p14="http://schemas.microsoft.com/office/powerpoint/2010/main" val="1260414266"/>
              </p:ext>
            </p:extLst>
          </p:nvPr>
        </p:nvGraphicFramePr>
        <p:xfrm>
          <a:off x="398206" y="2020536"/>
          <a:ext cx="11444749" cy="4078851"/>
        </p:xfrm>
        <a:graphic>
          <a:graphicData uri="http://schemas.openxmlformats.org/drawingml/2006/table">
            <a:tbl>
              <a:tblPr firstRow="1" bandRow="1">
                <a:tableStyleId>{5940675A-B579-460E-94D1-54222C63F5DA}</a:tableStyleId>
              </a:tblPr>
              <a:tblGrid>
                <a:gridCol w="1404061">
                  <a:extLst>
                    <a:ext uri="{9D8B030D-6E8A-4147-A177-3AD203B41FA5}">
                      <a16:colId xmlns:a16="http://schemas.microsoft.com/office/drawing/2014/main" val="20000"/>
                    </a:ext>
                  </a:extLst>
                </a:gridCol>
                <a:gridCol w="1899578">
                  <a:extLst>
                    <a:ext uri="{9D8B030D-6E8A-4147-A177-3AD203B41FA5}">
                      <a16:colId xmlns:a16="http://schemas.microsoft.com/office/drawing/2014/main" val="20001"/>
                    </a:ext>
                  </a:extLst>
                </a:gridCol>
                <a:gridCol w="8141110">
                  <a:extLst>
                    <a:ext uri="{9D8B030D-6E8A-4147-A177-3AD203B41FA5}">
                      <a16:colId xmlns:a16="http://schemas.microsoft.com/office/drawing/2014/main" val="20002"/>
                    </a:ext>
                  </a:extLst>
                </a:gridCol>
              </a:tblGrid>
              <a:tr h="604131">
                <a:tc>
                  <a:txBody>
                    <a:bodyPr/>
                    <a:lstStyle/>
                    <a:p>
                      <a:pPr algn="ctr"/>
                      <a:r>
                        <a:rPr lang="en-US" sz="2200" b="1" dirty="0" err="1">
                          <a:solidFill>
                            <a:schemeClr val="bg2">
                              <a:lumMod val="10000"/>
                            </a:schemeClr>
                          </a:solidFill>
                          <a:latin typeface="Arial" panose="020B0604020202020204" pitchFamily="34" charset="0"/>
                          <a:cs typeface="Arial" panose="020B0604020202020204" pitchFamily="34" charset="0"/>
                        </a:rPr>
                        <a:t>Coef</a:t>
                      </a:r>
                      <a:r>
                        <a:rPr lang="en-US" sz="2200" b="1" baseline="0" dirty="0">
                          <a:solidFill>
                            <a:schemeClr val="bg2">
                              <a:lumMod val="10000"/>
                            </a:schemeClr>
                          </a:solidFill>
                          <a:latin typeface="Arial" panose="020B0604020202020204" pitchFamily="34" charset="0"/>
                          <a:cs typeface="Arial" panose="020B0604020202020204" pitchFamily="34" charset="0"/>
                        </a:rPr>
                        <a:t> (B)</a:t>
                      </a:r>
                      <a:endParaRPr lang="ru-RU" sz="2200" b="1" dirty="0">
                        <a:solidFill>
                          <a:schemeClr val="bg2">
                            <a:lumMod val="10000"/>
                          </a:schemeClr>
                        </a:solidFill>
                        <a:latin typeface="Arial" pitchFamily="34" charset="0"/>
                        <a:cs typeface="Arial" pitchFamily="34" charset="0"/>
                      </a:endParaRPr>
                    </a:p>
                  </a:txBody>
                  <a:tcPr anchor="ctr"/>
                </a:tc>
                <a:tc>
                  <a:txBody>
                    <a:bodyPr/>
                    <a:lstStyle/>
                    <a:p>
                      <a:pPr algn="ctr"/>
                      <a:r>
                        <a:rPr lang="en-US" sz="2200" b="1" dirty="0">
                          <a:solidFill>
                            <a:schemeClr val="bg2">
                              <a:lumMod val="10000"/>
                            </a:schemeClr>
                          </a:solidFill>
                          <a:latin typeface="Arial" panose="020B0604020202020204" pitchFamily="34" charset="0"/>
                          <a:cs typeface="Arial" panose="020B0604020202020204" pitchFamily="34" charset="0"/>
                        </a:rPr>
                        <a:t>RRR=</a:t>
                      </a:r>
                      <a:r>
                        <a:rPr lang="en-US" sz="2200" b="1" dirty="0" err="1">
                          <a:solidFill>
                            <a:schemeClr val="bg2">
                              <a:lumMod val="10000"/>
                            </a:schemeClr>
                          </a:solidFill>
                          <a:latin typeface="Arial" panose="020B0604020202020204" pitchFamily="34" charset="0"/>
                          <a:cs typeface="Arial" panose="020B0604020202020204" pitchFamily="34" charset="0"/>
                        </a:rPr>
                        <a:t>exp</a:t>
                      </a:r>
                      <a:r>
                        <a:rPr lang="en-US" sz="2200" b="1" dirty="0">
                          <a:solidFill>
                            <a:schemeClr val="bg2">
                              <a:lumMod val="10000"/>
                            </a:schemeClr>
                          </a:solidFill>
                          <a:latin typeface="Arial" panose="020B0604020202020204" pitchFamily="34" charset="0"/>
                          <a:cs typeface="Arial" panose="020B0604020202020204" pitchFamily="34" charset="0"/>
                        </a:rPr>
                        <a:t>(b)</a:t>
                      </a:r>
                      <a:endParaRPr lang="ru-RU" sz="2200" b="1" dirty="0">
                        <a:solidFill>
                          <a:schemeClr val="bg2">
                            <a:lumMod val="10000"/>
                          </a:schemeClr>
                        </a:solidFill>
                        <a:latin typeface="Arial" pitchFamily="34" charset="0"/>
                        <a:cs typeface="Arial" pitchFamily="34" charset="0"/>
                      </a:endParaRPr>
                    </a:p>
                  </a:txBody>
                  <a:tcPr anchor="ctr"/>
                </a:tc>
                <a:tc>
                  <a:txBody>
                    <a:bodyPr/>
                    <a:lstStyle/>
                    <a:p>
                      <a:pPr algn="ctr"/>
                      <a:r>
                        <a:rPr kumimoji="0" lang="en-US" sz="2200" b="1" kern="1200" dirty="0">
                          <a:solidFill>
                            <a:schemeClr val="bg2">
                              <a:lumMod val="10000"/>
                            </a:schemeClr>
                          </a:solidFill>
                          <a:latin typeface="Arial" panose="020B0604020202020204" pitchFamily="34" charset="0"/>
                          <a:ea typeface="+mn-ea"/>
                          <a:cs typeface="Arial" panose="020B0604020202020204" pitchFamily="34" charset="0"/>
                        </a:rPr>
                        <a:t>Interpretation</a:t>
                      </a:r>
                      <a:endParaRPr kumimoji="0" lang="ru-RU" sz="2200" b="1" kern="1200" dirty="0">
                        <a:solidFill>
                          <a:schemeClr val="bg2">
                            <a:lumMod val="10000"/>
                          </a:schemeClr>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0"/>
                  </a:ext>
                </a:extLst>
              </a:tr>
              <a:tr h="370840">
                <a:tc>
                  <a:txBody>
                    <a:bodyPr/>
                    <a:lstStyle/>
                    <a:p>
                      <a:pPr algn="ctr"/>
                      <a:r>
                        <a:rPr lang="en-US" sz="2200" dirty="0">
                          <a:solidFill>
                            <a:schemeClr val="bg2">
                              <a:lumMod val="10000"/>
                            </a:schemeClr>
                          </a:solidFill>
                          <a:latin typeface="Arial" panose="020B0604020202020204" pitchFamily="34" charset="0"/>
                          <a:cs typeface="Arial" panose="020B0604020202020204" pitchFamily="34" charset="0"/>
                        </a:rPr>
                        <a:t>&gt; 0</a:t>
                      </a:r>
                      <a:endParaRPr lang="ru-RU" sz="2200" dirty="0">
                        <a:solidFill>
                          <a:schemeClr val="bg2">
                            <a:lumMod val="10000"/>
                          </a:schemeClr>
                        </a:solidFill>
                        <a:latin typeface="Arial" panose="020B0604020202020204" pitchFamily="34" charset="0"/>
                        <a:cs typeface="Arial" panose="020B0604020202020204" pitchFamily="34" charset="0"/>
                      </a:endParaRPr>
                    </a:p>
                  </a:txBody>
                  <a:tcPr anchor="ctr"/>
                </a:tc>
                <a:tc>
                  <a:txBody>
                    <a:bodyPr/>
                    <a:lstStyle/>
                    <a:p>
                      <a:pPr algn="ctr"/>
                      <a:r>
                        <a:rPr lang="en-US" sz="2200" dirty="0">
                          <a:solidFill>
                            <a:schemeClr val="bg2">
                              <a:lumMod val="10000"/>
                            </a:schemeClr>
                          </a:solidFill>
                          <a:latin typeface="Arial" panose="020B0604020202020204" pitchFamily="34" charset="0"/>
                          <a:cs typeface="Arial" panose="020B0604020202020204" pitchFamily="34" charset="0"/>
                        </a:rPr>
                        <a:t>&gt;</a:t>
                      </a:r>
                      <a:r>
                        <a:rPr lang="en-US" sz="2200" baseline="0" dirty="0">
                          <a:solidFill>
                            <a:schemeClr val="bg2">
                              <a:lumMod val="10000"/>
                            </a:schemeClr>
                          </a:solidFill>
                          <a:latin typeface="Arial" panose="020B0604020202020204" pitchFamily="34" charset="0"/>
                          <a:cs typeface="Arial" panose="020B0604020202020204" pitchFamily="34" charset="0"/>
                        </a:rPr>
                        <a:t> 1</a:t>
                      </a:r>
                      <a:endParaRPr lang="ru-RU" sz="2200" dirty="0">
                        <a:solidFill>
                          <a:schemeClr val="bg2">
                            <a:lumMod val="10000"/>
                          </a:schemeClr>
                        </a:solidFill>
                        <a:latin typeface="Arial" panose="020B0604020202020204" pitchFamily="34" charset="0"/>
                        <a:cs typeface="Arial" panose="020B0604020202020204" pitchFamily="34" charset="0"/>
                      </a:endParaRPr>
                    </a:p>
                  </a:txBody>
                  <a:tcPr anchor="ctr"/>
                </a:tc>
                <a:tc>
                  <a:txBody>
                    <a:bodyPr/>
                    <a:lstStyle/>
                    <a:p>
                      <a:r>
                        <a:rPr lang="en-US" sz="2100" dirty="0">
                          <a:solidFill>
                            <a:schemeClr val="bg2">
                              <a:lumMod val="10000"/>
                            </a:schemeClr>
                          </a:solidFill>
                          <a:latin typeface="Arial" panose="020B0604020202020204" pitchFamily="34" charset="0"/>
                          <a:cs typeface="Arial" panose="020B0604020202020204" pitchFamily="34" charset="0"/>
                        </a:rPr>
                        <a:t>Males compared to females </a:t>
                      </a:r>
                      <a:r>
                        <a:rPr lang="ru-RU" sz="2100" baseline="0" dirty="0">
                          <a:solidFill>
                            <a:schemeClr val="bg2">
                              <a:lumMod val="10000"/>
                            </a:schemeClr>
                          </a:solidFill>
                          <a:latin typeface="Arial" panose="020B0604020202020204" pitchFamily="34" charset="0"/>
                          <a:cs typeface="Arial" panose="020B0604020202020204" pitchFamily="34" charset="0"/>
                        </a:rPr>
                        <a:t>(</a:t>
                      </a:r>
                      <a:r>
                        <a:rPr lang="en-US" sz="2100" baseline="0" dirty="0">
                          <a:solidFill>
                            <a:schemeClr val="bg2">
                              <a:lumMod val="10000"/>
                            </a:schemeClr>
                          </a:solidFill>
                          <a:latin typeface="Arial" panose="020B0604020202020204" pitchFamily="34" charset="0"/>
                          <a:cs typeface="Arial" panose="020B0604020202020204" pitchFamily="34" charset="0"/>
                        </a:rPr>
                        <a:t>reference group</a:t>
                      </a:r>
                      <a:r>
                        <a:rPr lang="ru-RU" sz="2100" baseline="0" dirty="0">
                          <a:solidFill>
                            <a:schemeClr val="bg2">
                              <a:lumMod val="10000"/>
                            </a:schemeClr>
                          </a:solidFill>
                          <a:latin typeface="Arial" panose="020B0604020202020204" pitchFamily="34" charset="0"/>
                          <a:cs typeface="Arial" panose="020B0604020202020204" pitchFamily="34" charset="0"/>
                        </a:rPr>
                        <a:t>)  </a:t>
                      </a:r>
                      <a:r>
                        <a:rPr lang="en-US" sz="2100" baseline="0" dirty="0">
                          <a:solidFill>
                            <a:schemeClr val="bg2">
                              <a:lumMod val="10000"/>
                            </a:schemeClr>
                          </a:solidFill>
                          <a:latin typeface="Arial" panose="020B0604020202020204" pitchFamily="34" charset="0"/>
                          <a:cs typeface="Arial" panose="020B0604020202020204" pitchFamily="34" charset="0"/>
                        </a:rPr>
                        <a:t>are more likely to be in the current group than in the reference group.</a:t>
                      </a:r>
                    </a:p>
                    <a:p>
                      <a:endParaRPr lang="en-US" sz="2100" baseline="0" dirty="0">
                        <a:solidFill>
                          <a:schemeClr val="bg2">
                            <a:lumMod val="10000"/>
                          </a:schemeClr>
                        </a:solidFill>
                        <a:latin typeface="Arial" panose="020B0604020202020204" pitchFamily="34" charset="0"/>
                        <a:cs typeface="Arial" panose="020B0604020202020204" pitchFamily="34" charset="0"/>
                      </a:endParaRPr>
                    </a:p>
                    <a:p>
                      <a:r>
                        <a:rPr lang="en-US" sz="2100" baseline="0" dirty="0" err="1">
                          <a:solidFill>
                            <a:schemeClr val="bg2">
                              <a:lumMod val="10000"/>
                            </a:schemeClr>
                          </a:solidFill>
                          <a:latin typeface="Arial" panose="020B0604020202020204" pitchFamily="34" charset="0"/>
                          <a:cs typeface="Arial" panose="020B0604020202020204" pitchFamily="34" charset="0"/>
                        </a:rPr>
                        <a:t>Exp</a:t>
                      </a:r>
                      <a:r>
                        <a:rPr lang="en-US" sz="2100" baseline="0" dirty="0">
                          <a:solidFill>
                            <a:schemeClr val="bg2">
                              <a:lumMod val="10000"/>
                            </a:schemeClr>
                          </a:solidFill>
                          <a:latin typeface="Arial" panose="020B0604020202020204" pitchFamily="34" charset="0"/>
                          <a:cs typeface="Arial" panose="020B0604020202020204" pitchFamily="34" charset="0"/>
                        </a:rPr>
                        <a:t>(b)=1,6 -&gt; odds for males is 60%</a:t>
                      </a:r>
                      <a:r>
                        <a:rPr lang="ru-RU" sz="2100" baseline="0" dirty="0">
                          <a:solidFill>
                            <a:schemeClr val="bg2">
                              <a:lumMod val="10000"/>
                            </a:schemeClr>
                          </a:solidFill>
                          <a:latin typeface="Arial" panose="020B0604020202020204" pitchFamily="34" charset="0"/>
                          <a:cs typeface="Arial" panose="020B0604020202020204" pitchFamily="34" charset="0"/>
                        </a:rPr>
                        <a:t> </a:t>
                      </a:r>
                      <a:r>
                        <a:rPr lang="en-US" sz="2100" baseline="0" dirty="0">
                          <a:solidFill>
                            <a:schemeClr val="bg2">
                              <a:lumMod val="10000"/>
                            </a:schemeClr>
                          </a:solidFill>
                          <a:latin typeface="Arial" panose="020B0604020202020204" pitchFamily="34" charset="0"/>
                          <a:cs typeface="Arial" panose="020B0604020202020204" pitchFamily="34" charset="0"/>
                        </a:rPr>
                        <a:t>higher than odds for females</a:t>
                      </a:r>
                    </a:p>
                  </a:txBody>
                  <a:tcPr/>
                </a:tc>
                <a:extLst>
                  <a:ext uri="{0D108BD9-81ED-4DB2-BD59-A6C34878D82A}">
                    <a16:rowId xmlns:a16="http://schemas.microsoft.com/office/drawing/2014/main" val="10001"/>
                  </a:ext>
                </a:extLst>
              </a:tr>
              <a:tr h="370840">
                <a:tc>
                  <a:txBody>
                    <a:bodyPr/>
                    <a:lstStyle/>
                    <a:p>
                      <a:pPr algn="ctr"/>
                      <a:r>
                        <a:rPr lang="ru-RU" sz="2200" dirty="0">
                          <a:solidFill>
                            <a:schemeClr val="bg2">
                              <a:lumMod val="10000"/>
                            </a:schemeClr>
                          </a:solidFill>
                          <a:latin typeface="Arial" panose="020B0604020202020204" pitchFamily="34" charset="0"/>
                          <a:cs typeface="Arial" panose="020B0604020202020204" pitchFamily="34" charset="0"/>
                        </a:rPr>
                        <a:t>= </a:t>
                      </a:r>
                      <a:r>
                        <a:rPr lang="en-US" sz="2200" dirty="0">
                          <a:solidFill>
                            <a:schemeClr val="bg2">
                              <a:lumMod val="10000"/>
                            </a:schemeClr>
                          </a:solidFill>
                          <a:latin typeface="Arial" panose="020B0604020202020204" pitchFamily="34" charset="0"/>
                          <a:cs typeface="Arial" panose="020B0604020202020204" pitchFamily="34" charset="0"/>
                        </a:rPr>
                        <a:t>0</a:t>
                      </a:r>
                      <a:endParaRPr lang="ru-RU" sz="2200" dirty="0">
                        <a:solidFill>
                          <a:schemeClr val="bg2">
                            <a:lumMod val="10000"/>
                          </a:schemeClr>
                        </a:solidFill>
                        <a:latin typeface="Arial" panose="020B0604020202020204" pitchFamily="34" charset="0"/>
                        <a:cs typeface="Arial" panose="020B0604020202020204" pitchFamily="34" charset="0"/>
                      </a:endParaRPr>
                    </a:p>
                  </a:txBody>
                  <a:tcPr anchor="ctr"/>
                </a:tc>
                <a:tc>
                  <a:txBody>
                    <a:bodyPr/>
                    <a:lstStyle/>
                    <a:p>
                      <a:pPr algn="ctr"/>
                      <a:r>
                        <a:rPr lang="en-US" sz="2200" dirty="0">
                          <a:solidFill>
                            <a:schemeClr val="bg2">
                              <a:lumMod val="10000"/>
                            </a:schemeClr>
                          </a:solidFill>
                          <a:latin typeface="Arial" panose="020B0604020202020204" pitchFamily="34" charset="0"/>
                          <a:cs typeface="Arial" panose="020B0604020202020204" pitchFamily="34" charset="0"/>
                        </a:rPr>
                        <a:t>= 1</a:t>
                      </a:r>
                      <a:endParaRPr lang="ru-RU" sz="2200" dirty="0">
                        <a:solidFill>
                          <a:schemeClr val="bg2">
                            <a:lumMod val="10000"/>
                          </a:schemeClr>
                        </a:solidFill>
                        <a:latin typeface="Arial" panose="020B0604020202020204" pitchFamily="34" charset="0"/>
                        <a:cs typeface="Arial" panose="020B0604020202020204" pitchFamily="34" charset="0"/>
                      </a:endParaRPr>
                    </a:p>
                  </a:txBody>
                  <a:tcPr anchor="ctr"/>
                </a:tc>
                <a:tc>
                  <a:txBody>
                    <a:bodyPr/>
                    <a:lstStyle/>
                    <a:p>
                      <a:r>
                        <a:rPr lang="en-US" sz="2100" dirty="0">
                          <a:solidFill>
                            <a:schemeClr val="bg2">
                              <a:lumMod val="10000"/>
                            </a:schemeClr>
                          </a:solidFill>
                          <a:latin typeface="Arial" panose="020B0604020202020204" pitchFamily="34" charset="0"/>
                          <a:cs typeface="Arial" panose="020B0604020202020204" pitchFamily="34" charset="0"/>
                        </a:rPr>
                        <a:t>Males</a:t>
                      </a:r>
                      <a:r>
                        <a:rPr lang="en-US" sz="2100" baseline="0" dirty="0">
                          <a:solidFill>
                            <a:schemeClr val="bg2">
                              <a:lumMod val="10000"/>
                            </a:schemeClr>
                          </a:solidFill>
                          <a:latin typeface="Arial" panose="020B0604020202020204" pitchFamily="34" charset="0"/>
                          <a:cs typeface="Arial" panose="020B0604020202020204" pitchFamily="34" charset="0"/>
                        </a:rPr>
                        <a:t> and females are equally likely to be in the current and the reference groups.</a:t>
                      </a:r>
                      <a:endParaRPr lang="ru-RU" sz="2100" dirty="0">
                        <a:solidFill>
                          <a:schemeClr val="bg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370840">
                <a:tc>
                  <a:txBody>
                    <a:bodyPr/>
                    <a:lstStyle/>
                    <a:p>
                      <a:pPr algn="ctr"/>
                      <a:r>
                        <a:rPr lang="en-US" sz="2200" dirty="0">
                          <a:solidFill>
                            <a:schemeClr val="bg2">
                              <a:lumMod val="10000"/>
                            </a:schemeClr>
                          </a:solidFill>
                          <a:latin typeface="Arial" panose="020B0604020202020204" pitchFamily="34" charset="0"/>
                          <a:cs typeface="Arial" panose="020B0604020202020204" pitchFamily="34" charset="0"/>
                        </a:rPr>
                        <a:t>&lt;</a:t>
                      </a:r>
                      <a:r>
                        <a:rPr lang="en-US" sz="2200" baseline="0" dirty="0">
                          <a:solidFill>
                            <a:schemeClr val="bg2">
                              <a:lumMod val="10000"/>
                            </a:schemeClr>
                          </a:solidFill>
                          <a:latin typeface="Arial" panose="020B0604020202020204" pitchFamily="34" charset="0"/>
                          <a:cs typeface="Arial" panose="020B0604020202020204" pitchFamily="34" charset="0"/>
                        </a:rPr>
                        <a:t> 0</a:t>
                      </a:r>
                      <a:endParaRPr lang="ru-RU" sz="2200" dirty="0">
                        <a:solidFill>
                          <a:schemeClr val="bg2">
                            <a:lumMod val="10000"/>
                          </a:schemeClr>
                        </a:solidFill>
                        <a:latin typeface="Arial" panose="020B0604020202020204" pitchFamily="34" charset="0"/>
                        <a:cs typeface="Arial" panose="020B0604020202020204" pitchFamily="34" charset="0"/>
                      </a:endParaRPr>
                    </a:p>
                  </a:txBody>
                  <a:tcPr anchor="ctr"/>
                </a:tc>
                <a:tc>
                  <a:txBody>
                    <a:bodyPr/>
                    <a:lstStyle/>
                    <a:p>
                      <a:pPr algn="ctr"/>
                      <a:r>
                        <a:rPr lang="en-US" sz="2200" baseline="0" dirty="0">
                          <a:solidFill>
                            <a:schemeClr val="bg2">
                              <a:lumMod val="10000"/>
                            </a:schemeClr>
                          </a:solidFill>
                          <a:latin typeface="Arial" panose="020B0604020202020204" pitchFamily="34" charset="0"/>
                          <a:cs typeface="Arial" panose="020B0604020202020204" pitchFamily="34" charset="0"/>
                        </a:rPr>
                        <a:t>from</a:t>
                      </a:r>
                      <a:r>
                        <a:rPr lang="ru-RU" sz="2200" baseline="0" dirty="0">
                          <a:solidFill>
                            <a:schemeClr val="bg2">
                              <a:lumMod val="10000"/>
                            </a:schemeClr>
                          </a:solidFill>
                          <a:latin typeface="Arial" panose="020B0604020202020204" pitchFamily="34" charset="0"/>
                          <a:cs typeface="Arial" panose="020B0604020202020204" pitchFamily="34" charset="0"/>
                        </a:rPr>
                        <a:t> </a:t>
                      </a:r>
                      <a:r>
                        <a:rPr lang="en-US" sz="2200" baseline="0" dirty="0">
                          <a:solidFill>
                            <a:schemeClr val="bg2">
                              <a:lumMod val="10000"/>
                            </a:schemeClr>
                          </a:solidFill>
                          <a:latin typeface="Arial" panose="020B0604020202020204" pitchFamily="34" charset="0"/>
                          <a:cs typeface="Arial" panose="020B0604020202020204" pitchFamily="34" charset="0"/>
                        </a:rPr>
                        <a:t>0 to 1</a:t>
                      </a:r>
                      <a:endParaRPr lang="ru-RU" sz="2200" dirty="0">
                        <a:solidFill>
                          <a:schemeClr val="bg2">
                            <a:lumMod val="10000"/>
                          </a:schemeClr>
                        </a:solidFill>
                        <a:latin typeface="Arial" panose="020B0604020202020204" pitchFamily="34" charset="0"/>
                        <a:cs typeface="Arial" panose="020B0604020202020204" pitchFamily="34" charset="0"/>
                      </a:endParaRPr>
                    </a:p>
                  </a:txBody>
                  <a:tcPr anchor="ctr"/>
                </a:tc>
                <a:tc>
                  <a:txBody>
                    <a:bodyPr/>
                    <a:lstStyle/>
                    <a:p>
                      <a:r>
                        <a:rPr lang="en-US" sz="2100" dirty="0">
                          <a:solidFill>
                            <a:schemeClr val="bg2">
                              <a:lumMod val="10000"/>
                            </a:schemeClr>
                          </a:solidFill>
                          <a:latin typeface="Arial" panose="020B0604020202020204" pitchFamily="34" charset="0"/>
                          <a:cs typeface="Arial" panose="020B0604020202020204" pitchFamily="34" charset="0"/>
                        </a:rPr>
                        <a:t>Males compared to females </a:t>
                      </a:r>
                      <a:r>
                        <a:rPr lang="ru-RU" sz="2100" baseline="0" dirty="0">
                          <a:solidFill>
                            <a:schemeClr val="bg2">
                              <a:lumMod val="10000"/>
                            </a:schemeClr>
                          </a:solidFill>
                          <a:latin typeface="Arial" panose="020B0604020202020204" pitchFamily="34" charset="0"/>
                          <a:cs typeface="Arial" panose="020B0604020202020204" pitchFamily="34" charset="0"/>
                        </a:rPr>
                        <a:t>(</a:t>
                      </a:r>
                      <a:r>
                        <a:rPr lang="en-US" sz="2100" baseline="0" dirty="0">
                          <a:solidFill>
                            <a:schemeClr val="bg2">
                              <a:lumMod val="10000"/>
                            </a:schemeClr>
                          </a:solidFill>
                          <a:latin typeface="Arial" panose="020B0604020202020204" pitchFamily="34" charset="0"/>
                          <a:cs typeface="Arial" panose="020B0604020202020204" pitchFamily="34" charset="0"/>
                        </a:rPr>
                        <a:t>reference group</a:t>
                      </a:r>
                      <a:r>
                        <a:rPr lang="ru-RU" sz="2100" baseline="0" dirty="0">
                          <a:solidFill>
                            <a:schemeClr val="bg2">
                              <a:lumMod val="10000"/>
                            </a:schemeClr>
                          </a:solidFill>
                          <a:latin typeface="Arial" panose="020B0604020202020204" pitchFamily="34" charset="0"/>
                          <a:cs typeface="Arial" panose="020B0604020202020204" pitchFamily="34" charset="0"/>
                        </a:rPr>
                        <a:t>)  </a:t>
                      </a:r>
                      <a:r>
                        <a:rPr lang="en-US" sz="2100" baseline="0" dirty="0">
                          <a:solidFill>
                            <a:schemeClr val="bg2">
                              <a:lumMod val="10000"/>
                            </a:schemeClr>
                          </a:solidFill>
                          <a:latin typeface="Arial" panose="020B0604020202020204" pitchFamily="34" charset="0"/>
                          <a:cs typeface="Arial" panose="020B0604020202020204" pitchFamily="34" charset="0"/>
                        </a:rPr>
                        <a:t>are less likely to be in the current group than in the reference group.</a:t>
                      </a:r>
                    </a:p>
                    <a:p>
                      <a:endParaRPr lang="en-US" sz="2100" baseline="0" dirty="0">
                        <a:solidFill>
                          <a:schemeClr val="bg2">
                            <a:lumMod val="10000"/>
                          </a:schemeClr>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100" baseline="0" dirty="0" err="1">
                          <a:solidFill>
                            <a:schemeClr val="bg2">
                              <a:lumMod val="10000"/>
                            </a:schemeClr>
                          </a:solidFill>
                          <a:latin typeface="Arial" panose="020B0604020202020204" pitchFamily="34" charset="0"/>
                          <a:cs typeface="Arial" panose="020B0604020202020204" pitchFamily="34" charset="0"/>
                        </a:rPr>
                        <a:t>Exp</a:t>
                      </a:r>
                      <a:r>
                        <a:rPr lang="en-US" sz="2100" baseline="0" dirty="0">
                          <a:solidFill>
                            <a:schemeClr val="bg2">
                              <a:lumMod val="10000"/>
                            </a:schemeClr>
                          </a:solidFill>
                          <a:latin typeface="Arial" panose="020B0604020202020204" pitchFamily="34" charset="0"/>
                          <a:cs typeface="Arial" panose="020B0604020202020204" pitchFamily="34" charset="0"/>
                        </a:rPr>
                        <a:t>(b)=0,6 -&gt; </a:t>
                      </a:r>
                      <a:r>
                        <a:rPr lang="en-US" sz="2100" dirty="0">
                          <a:solidFill>
                            <a:schemeClr val="bg2">
                              <a:lumMod val="10000"/>
                            </a:schemeClr>
                          </a:solidFill>
                          <a:latin typeface="Arial" panose="020B0604020202020204" pitchFamily="34" charset="0"/>
                          <a:cs typeface="Arial" panose="020B0604020202020204" pitchFamily="34" charset="0"/>
                        </a:rPr>
                        <a:t>Odds for males is 40% lower than odds for females</a:t>
                      </a:r>
                      <a:endParaRPr lang="ru-RU" sz="2100" dirty="0">
                        <a:solidFill>
                          <a:schemeClr val="bg2">
                            <a:lumMod val="10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71039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Graphical representation</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pic>
        <p:nvPicPr>
          <p:cNvPr id="8" name="Picture 3"/>
          <p:cNvPicPr>
            <a:picLocks noChangeAspect="1" noChangeArrowheads="1"/>
          </p:cNvPicPr>
          <p:nvPr/>
        </p:nvPicPr>
        <p:blipFill rotWithShape="1">
          <a:blip r:embed="rId2" cstate="print"/>
          <a:srcRect l="20750" t="30625" r="21693" b="10798"/>
          <a:stretch/>
        </p:blipFill>
        <p:spPr bwMode="auto">
          <a:xfrm>
            <a:off x="2311466" y="2153175"/>
            <a:ext cx="7488832" cy="4285027"/>
          </a:xfrm>
          <a:prstGeom prst="rect">
            <a:avLst/>
          </a:prstGeom>
          <a:noFill/>
          <a:ln w="9525">
            <a:noFill/>
            <a:miter lim="800000"/>
            <a:headEnd/>
            <a:tailEnd/>
          </a:ln>
        </p:spPr>
      </p:pic>
    </p:spTree>
    <p:extLst>
      <p:ext uri="{BB962C8B-B14F-4D97-AF65-F5344CB8AC3E}">
        <p14:creationId xmlns:p14="http://schemas.microsoft.com/office/powerpoint/2010/main" val="3958141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Ordinal regression</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71659"/>
            <a:ext cx="10792842" cy="3848315"/>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Ordinal regression is used to model ordinal outcome variables. We can rank the values of the ordinal variable, but the real distance between categories is unknown.</a:t>
            </a:r>
          </a:p>
          <a:p>
            <a:pPr algn="just"/>
            <a:r>
              <a:rPr lang="en-US" sz="2400" dirty="0">
                <a:solidFill>
                  <a:schemeClr val="bg2">
                    <a:lumMod val="10000"/>
                  </a:schemeClr>
                </a:solidFill>
                <a:latin typeface="Arial" panose="020B0604020202020204" pitchFamily="34" charset="0"/>
                <a:cs typeface="Arial" panose="020B0604020202020204" pitchFamily="34" charset="0"/>
              </a:rPr>
              <a:t>	Instead of considering the probability of an individual event, we consider the probability of that event and all events that are ordered before it.</a:t>
            </a: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5390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Dependent Variable</a:t>
            </a:r>
            <a:endParaRPr lang="ru-RU" sz="37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333890"/>
            <a:ext cx="10792842" cy="3848315"/>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The ordinal dependent variable ‘Level of Education’ has the following values</a:t>
            </a:r>
            <a:r>
              <a:rPr lang="ru-RU" sz="2400" dirty="0">
                <a:solidFill>
                  <a:schemeClr val="bg2">
                    <a:lumMod val="10000"/>
                  </a:schemeClr>
                </a:solidFill>
                <a:latin typeface="Arial" panose="020B0604020202020204" pitchFamily="34" charset="0"/>
                <a:cs typeface="Arial" panose="020B0604020202020204" pitchFamily="34" charset="0"/>
              </a:rPr>
              <a:t>:</a:t>
            </a:r>
          </a:p>
          <a:p>
            <a:pPr lvl="3"/>
            <a:r>
              <a:rPr lang="en-US" sz="2400" dirty="0">
                <a:solidFill>
                  <a:schemeClr val="bg2">
                    <a:lumMod val="10000"/>
                  </a:schemeClr>
                </a:solidFill>
                <a:latin typeface="Arial" panose="020B0604020202020204" pitchFamily="34" charset="0"/>
                <a:cs typeface="Arial" panose="020B0604020202020204" pitchFamily="34" charset="0"/>
              </a:rPr>
              <a:t>1 – no education</a:t>
            </a:r>
          </a:p>
          <a:p>
            <a:pPr lvl="3"/>
            <a:r>
              <a:rPr lang="en-US" sz="2400" dirty="0">
                <a:solidFill>
                  <a:schemeClr val="bg2">
                    <a:lumMod val="10000"/>
                  </a:schemeClr>
                </a:solidFill>
                <a:latin typeface="Arial" panose="020B0604020202020204" pitchFamily="34" charset="0"/>
                <a:cs typeface="Arial" panose="020B0604020202020204" pitchFamily="34" charset="0"/>
              </a:rPr>
              <a:t>2 – secondary education</a:t>
            </a:r>
            <a:endParaRPr lang="ru-RU" sz="2400" dirty="0">
              <a:solidFill>
                <a:schemeClr val="bg2">
                  <a:lumMod val="10000"/>
                </a:schemeClr>
              </a:solidFill>
              <a:latin typeface="Arial" panose="020B0604020202020204" pitchFamily="34" charset="0"/>
              <a:cs typeface="Arial" panose="020B0604020202020204" pitchFamily="34" charset="0"/>
            </a:endParaRPr>
          </a:p>
          <a:p>
            <a:pPr lvl="3"/>
            <a:r>
              <a:rPr lang="en-US" sz="2400" dirty="0">
                <a:solidFill>
                  <a:schemeClr val="bg2">
                    <a:lumMod val="10000"/>
                  </a:schemeClr>
                </a:solidFill>
                <a:latin typeface="Arial" panose="020B0604020202020204" pitchFamily="34" charset="0"/>
                <a:cs typeface="Arial" panose="020B0604020202020204" pitchFamily="34" charset="0"/>
              </a:rPr>
              <a:t>3 – higher education</a:t>
            </a:r>
            <a:endParaRPr lang="ru-RU" sz="2400" dirty="0">
              <a:solidFill>
                <a:schemeClr val="bg2">
                  <a:lumMod val="10000"/>
                </a:schemeClr>
              </a:solidFill>
              <a:latin typeface="Arial" panose="020B0604020202020204" pitchFamily="34" charset="0"/>
              <a:cs typeface="Arial" panose="020B0604020202020204" pitchFamily="34" charset="0"/>
            </a:endParaRPr>
          </a:p>
          <a:p>
            <a:pPr lvl="3"/>
            <a:r>
              <a:rPr lang="en-US" sz="2400" dirty="0">
                <a:solidFill>
                  <a:schemeClr val="bg2">
                    <a:lumMod val="10000"/>
                  </a:schemeClr>
                </a:solidFill>
                <a:latin typeface="Arial" panose="020B0604020202020204" pitchFamily="34" charset="0"/>
                <a:cs typeface="Arial" panose="020B0604020202020204" pitchFamily="34" charset="0"/>
              </a:rPr>
              <a:t>4 – PhD</a:t>
            </a:r>
            <a:endParaRPr lang="ru-RU" sz="2400" dirty="0">
              <a:solidFill>
                <a:schemeClr val="bg2">
                  <a:lumMod val="10000"/>
                </a:schemeClr>
              </a:solidFill>
              <a:latin typeface="Arial" panose="020B0604020202020204" pitchFamily="34" charset="0"/>
              <a:cs typeface="Arial" panose="020B0604020202020204" pitchFamily="34" charset="0"/>
            </a:endParaRPr>
          </a:p>
          <a:p>
            <a:pPr algn="just"/>
            <a:r>
              <a:rPr lang="en-US" sz="2400" dirty="0">
                <a:solidFill>
                  <a:schemeClr val="bg2">
                    <a:lumMod val="10000"/>
                  </a:schemeClr>
                </a:solidFill>
                <a:latin typeface="Arial" panose="020B0604020202020204" pitchFamily="34" charset="0"/>
                <a:cs typeface="Arial" panose="020B0604020202020204" pitchFamily="34" charset="0"/>
              </a:rPr>
              <a:t>	As a result of analysis, we will calculate the probability to achieve particular educational level and all the levels, which are below it.</a:t>
            </a:r>
          </a:p>
          <a:p>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8320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Interpreting the results</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
        <p:nvSpPr>
          <p:cNvPr id="9" name="Rectangle 21"/>
          <p:cNvSpPr>
            <a:spLocks noChangeArrowheads="1"/>
          </p:cNvSpPr>
          <p:nvPr/>
        </p:nvSpPr>
        <p:spPr bwMode="auto">
          <a:xfrm>
            <a:off x="457200" y="5155023"/>
            <a:ext cx="11186652" cy="2304256"/>
          </a:xfrm>
          <a:prstGeom prst="rect">
            <a:avLst/>
          </a:prstGeom>
          <a:noFill/>
          <a:ln w="9525">
            <a:noFill/>
            <a:miter lim="800000"/>
            <a:headEnd/>
            <a:tailEnd/>
          </a:ln>
          <a:effectLst/>
        </p:spPr>
        <p:txBody>
          <a:bodyPr/>
          <a:lstStyle/>
          <a:p>
            <a:pPr algn="just" eaLnBrk="0" fontAlgn="base" hangingPunct="0">
              <a:spcBef>
                <a:spcPct val="0"/>
              </a:spcBef>
              <a:spcAft>
                <a:spcPct val="0"/>
              </a:spcAft>
            </a:pPr>
            <a:r>
              <a:rPr lang="ru-RU" sz="2200" dirty="0">
                <a:solidFill>
                  <a:prstClr val="black"/>
                </a:solidFill>
                <a:latin typeface="Arial" panose="020B0604020202020204" pitchFamily="34" charset="0"/>
                <a:cs typeface="Arial" panose="020B0604020202020204" pitchFamily="34" charset="0"/>
              </a:rPr>
              <a:t>	</a:t>
            </a:r>
            <a:r>
              <a:rPr lang="en-US" sz="2200" dirty="0">
                <a:solidFill>
                  <a:prstClr val="black"/>
                </a:solidFill>
                <a:latin typeface="Arial" panose="020B0604020202020204" pitchFamily="34" charset="0"/>
                <a:cs typeface="Arial" panose="020B0604020202020204" pitchFamily="34" charset="0"/>
              </a:rPr>
              <a:t>Predictor is gender: 1 – male</a:t>
            </a:r>
            <a:r>
              <a:rPr lang="ru-RU" sz="2200" dirty="0">
                <a:solidFill>
                  <a:prstClr val="black"/>
                </a:solidFill>
                <a:latin typeface="Arial" panose="020B0604020202020204" pitchFamily="34" charset="0"/>
                <a:cs typeface="Arial" panose="020B0604020202020204" pitchFamily="34" charset="0"/>
              </a:rPr>
              <a:t>, </a:t>
            </a:r>
            <a:r>
              <a:rPr lang="en-US" sz="2200" dirty="0">
                <a:solidFill>
                  <a:prstClr val="black"/>
                </a:solidFill>
                <a:latin typeface="Arial" panose="020B0604020202020204" pitchFamily="34" charset="0"/>
                <a:cs typeface="Arial" panose="020B0604020202020204" pitchFamily="34" charset="0"/>
              </a:rPr>
              <a:t>2 –</a:t>
            </a:r>
            <a:r>
              <a:rPr lang="ru-RU" sz="2200" dirty="0">
                <a:solidFill>
                  <a:prstClr val="black"/>
                </a:solidFill>
                <a:latin typeface="Arial" panose="020B0604020202020204" pitchFamily="34" charset="0"/>
                <a:cs typeface="Arial" panose="020B0604020202020204" pitchFamily="34" charset="0"/>
              </a:rPr>
              <a:t> </a:t>
            </a:r>
            <a:r>
              <a:rPr lang="en-US" sz="2200" dirty="0">
                <a:solidFill>
                  <a:prstClr val="black"/>
                </a:solidFill>
                <a:latin typeface="Arial" panose="020B0604020202020204" pitchFamily="34" charset="0"/>
                <a:cs typeface="Arial" panose="020B0604020202020204" pitchFamily="34" charset="0"/>
              </a:rPr>
              <a:t>female (reference group)</a:t>
            </a:r>
            <a:r>
              <a:rPr lang="ru-RU" sz="2200" dirty="0">
                <a:solidFill>
                  <a:prstClr val="black"/>
                </a:solidFill>
                <a:latin typeface="Arial" panose="020B0604020202020204" pitchFamily="34" charset="0"/>
                <a:cs typeface="Arial" panose="020B0604020202020204" pitchFamily="34" charset="0"/>
              </a:rPr>
              <a:t>. </a:t>
            </a:r>
            <a:r>
              <a:rPr lang="en-US" sz="2200" dirty="0">
                <a:solidFill>
                  <a:prstClr val="black"/>
                </a:solidFill>
                <a:latin typeface="Arial" panose="020B0604020202020204" pitchFamily="34" charset="0"/>
                <a:cs typeface="Arial" panose="020B0604020202020204" pitchFamily="34" charset="0"/>
              </a:rPr>
              <a:t>As the coefficient is negative </a:t>
            </a:r>
            <a:r>
              <a:rPr lang="ru-RU" sz="2200" dirty="0">
                <a:solidFill>
                  <a:prstClr val="black"/>
                </a:solidFill>
                <a:latin typeface="Arial" panose="020B0604020202020204" pitchFamily="34" charset="0"/>
                <a:cs typeface="Arial" panose="020B0604020202020204" pitchFamily="34" charset="0"/>
              </a:rPr>
              <a:t>(-</a:t>
            </a:r>
            <a:r>
              <a:rPr lang="en-US" sz="2200" dirty="0">
                <a:solidFill>
                  <a:prstClr val="black"/>
                </a:solidFill>
                <a:latin typeface="Arial" panose="020B0604020202020204" pitchFamily="34" charset="0"/>
                <a:cs typeface="Arial" panose="020B0604020202020204" pitchFamily="34" charset="0"/>
              </a:rPr>
              <a:t>1,106)</a:t>
            </a:r>
            <a:r>
              <a:rPr lang="ru-RU" sz="2200" dirty="0">
                <a:solidFill>
                  <a:prstClr val="black"/>
                </a:solidFill>
                <a:latin typeface="Arial" panose="020B0604020202020204" pitchFamily="34" charset="0"/>
                <a:cs typeface="Arial" panose="020B0604020202020204" pitchFamily="34" charset="0"/>
              </a:rPr>
              <a:t>, </a:t>
            </a:r>
            <a:r>
              <a:rPr lang="en-US" sz="2200" dirty="0">
                <a:solidFill>
                  <a:prstClr val="black"/>
                </a:solidFill>
                <a:latin typeface="Arial" panose="020B0604020202020204" pitchFamily="34" charset="0"/>
                <a:cs typeface="Arial" panose="020B0604020202020204" pitchFamily="34" charset="0"/>
              </a:rPr>
              <a:t>males are less likely to get higher results than females.</a:t>
            </a:r>
            <a:endParaRPr lang="ru-RU" sz="2200" dirty="0">
              <a:solidFill>
                <a:prstClr val="black"/>
              </a:solidFill>
              <a:latin typeface="Arial" panose="020B0604020202020204" pitchFamily="34" charset="0"/>
              <a:cs typeface="Arial" panose="020B0604020202020204" pitchFamily="34" charset="0"/>
            </a:endParaRPr>
          </a:p>
        </p:txBody>
      </p:sp>
      <p:pic>
        <p:nvPicPr>
          <p:cNvPr id="1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6855"/>
          <a:stretch/>
        </p:blipFill>
        <p:spPr bwMode="auto">
          <a:xfrm>
            <a:off x="1171312" y="2094183"/>
            <a:ext cx="9557648" cy="2767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Прямоугольник 11"/>
          <p:cNvSpPr/>
          <p:nvPr/>
        </p:nvSpPr>
        <p:spPr>
          <a:xfrm>
            <a:off x="3347255" y="4235510"/>
            <a:ext cx="864096" cy="216024"/>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4152146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700" b="1" dirty="0">
                <a:latin typeface="Arial" panose="020B0604020202020204" pitchFamily="34" charset="0"/>
                <a:cs typeface="Arial" panose="020B0604020202020204" pitchFamily="34" charset="0"/>
              </a:rPr>
              <a:t>Testing Parallel Lines</a:t>
            </a:r>
            <a:endParaRPr lang="ru-RU" sz="3700" b="1" dirty="0">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
        <p:nvSpPr>
          <p:cNvPr id="5" name="Прямоугольник 4"/>
          <p:cNvSpPr/>
          <p:nvPr/>
        </p:nvSpPr>
        <p:spPr>
          <a:xfrm>
            <a:off x="585896" y="2103618"/>
            <a:ext cx="10534387" cy="2308324"/>
          </a:xfrm>
          <a:prstGeom prst="rect">
            <a:avLst/>
          </a:prstGeom>
        </p:spPr>
        <p:txBody>
          <a:bodyPr wrap="square">
            <a:spAutoFit/>
          </a:bodyPr>
          <a:lstStyle/>
          <a:p>
            <a:pPr algn="just" eaLnBrk="0" fontAlgn="base" hangingPunct="0">
              <a:spcBef>
                <a:spcPct val="0"/>
              </a:spcBef>
              <a:spcAft>
                <a:spcPct val="0"/>
              </a:spcAft>
            </a:pPr>
            <a:r>
              <a:rPr lang="en-US" sz="2400" dirty="0">
                <a:solidFill>
                  <a:prstClr val="black"/>
                </a:solidFill>
                <a:latin typeface="Arial" panose="020B0604020202020204" pitchFamily="34" charset="0"/>
                <a:cs typeface="Arial" panose="020B0604020202020204" pitchFamily="34" charset="0"/>
              </a:rPr>
              <a:t>	When you fit an ordinal regression, you assume that the relationships between the independent variables and the logits are the same for all the logits. That means that the results are a set of parallel lines or planes – one for each category of the outcome variable. You can check this assumption by allowing the coefficients to vary, estimating them, and then testing whether they are all equal.</a:t>
            </a:r>
            <a:endParaRPr lang="ru-RU" sz="24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5481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fr-FR" sz="1200" dirty="0">
                <a:latin typeface="Arial" panose="020B0604020202020204" pitchFamily="34" charset="0"/>
                <a:cs typeface="Arial" panose="020B0604020202020204" pitchFamily="34" charset="0"/>
              </a:rPr>
              <a:t>Data Analysis</a:t>
            </a:r>
            <a:endParaRPr lang="ru-RU" sz="12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Lecture 8</a:t>
            </a:r>
            <a:endParaRPr lang="ru-RU" sz="1200" dirty="0">
              <a:solidFill>
                <a:schemeClr val="tx1"/>
              </a:solidFill>
              <a:latin typeface="Arial" panose="020B0604020202020204" pitchFamily="34" charset="0"/>
              <a:cs typeface="Arial" panose="020B0604020202020204" pitchFamily="34" charset="0"/>
            </a:endParaRPr>
          </a:p>
        </p:txBody>
      </p:sp>
      <p:sp>
        <p:nvSpPr>
          <p:cNvPr id="4" name="Заголовок 3"/>
          <p:cNvSpPr>
            <a:spLocks noGrp="1"/>
          </p:cNvSpPr>
          <p:nvPr>
            <p:ph type="title"/>
          </p:nvPr>
        </p:nvSpPr>
        <p:spPr>
          <a:xfrm>
            <a:off x="585897" y="1317158"/>
            <a:ext cx="11057955" cy="777025"/>
          </a:xfrm>
        </p:spPr>
        <p:txBody>
          <a:bodyPr>
            <a:noAutofit/>
          </a:bodyPr>
          <a:lstStyle/>
          <a:p>
            <a:r>
              <a:rPr lang="en-US" sz="3400" b="1" dirty="0">
                <a:latin typeface="Arial" panose="020B0604020202020204" pitchFamily="34" charset="0"/>
                <a:cs typeface="Arial" panose="020B0604020202020204" pitchFamily="34" charset="0"/>
              </a:rPr>
              <a:t>Useful links</a:t>
            </a:r>
            <a:endParaRPr lang="ru-RU" sz="34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585896" y="2256978"/>
            <a:ext cx="11057955" cy="3848315"/>
          </a:xfrm>
        </p:spPr>
        <p:txBody>
          <a:bodyPr numCol="1"/>
          <a:lstStyle/>
          <a:p>
            <a:pPr algn="just">
              <a:lnSpc>
                <a:spcPct val="110000"/>
              </a:lnSpc>
              <a:spcBef>
                <a:spcPts val="0"/>
              </a:spcBef>
            </a:pPr>
            <a:r>
              <a:rPr lang="en-US" sz="2200" dirty="0">
                <a:solidFill>
                  <a:prstClr val="black"/>
                </a:solidFill>
                <a:latin typeface="Arial" panose="020B0604020202020204" pitchFamily="34" charset="0"/>
                <a:cs typeface="Arial" panose="020B0604020202020204" pitchFamily="34" charset="0"/>
              </a:rPr>
              <a:t>Multinomial Regression:</a:t>
            </a:r>
            <a:endParaRPr lang="en-US" sz="2200" dirty="0">
              <a:solidFill>
                <a:prstClr val="black"/>
              </a:solidFill>
              <a:latin typeface="Arial" panose="020B0604020202020204" pitchFamily="34" charset="0"/>
              <a:cs typeface="Arial" panose="020B0604020202020204" pitchFamily="34" charset="0"/>
              <a:hlinkClick r:id="rId2"/>
            </a:endParaRPr>
          </a:p>
          <a:p>
            <a:pPr marL="442913" indent="-177800" algn="just">
              <a:lnSpc>
                <a:spcPct val="110000"/>
              </a:lnSpc>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hlinkClick r:id="rId2"/>
              </a:rPr>
              <a:t>http://www.int-arch-photogramm-remote-sens-spatial-inf-sci.net/XL-8/193/2014/isprsarchives-XL-8-193-2014.pdf</a:t>
            </a:r>
            <a:endParaRPr lang="ru-RU" sz="2200" dirty="0">
              <a:solidFill>
                <a:schemeClr val="bg2">
                  <a:lumMod val="10000"/>
                </a:schemeClr>
              </a:solidFill>
              <a:latin typeface="Arial" panose="020B0604020202020204" pitchFamily="34" charset="0"/>
              <a:cs typeface="Arial" panose="020B0604020202020204" pitchFamily="34" charset="0"/>
              <a:hlinkClick r:id="rId2"/>
            </a:endParaRPr>
          </a:p>
          <a:p>
            <a:pPr marL="442913" indent="-177800" algn="just">
              <a:lnSpc>
                <a:spcPct val="110000"/>
              </a:lnSpc>
              <a:spcBef>
                <a:spcPts val="0"/>
              </a:spcBef>
              <a:buFont typeface="Arial" panose="020B0604020202020204" pitchFamily="34" charset="0"/>
              <a:buChar char="•"/>
            </a:pPr>
            <a:r>
              <a:rPr lang="fr-FR" sz="2200" dirty="0">
                <a:solidFill>
                  <a:schemeClr val="bg2">
                    <a:lumMod val="10000"/>
                  </a:schemeClr>
                </a:solidFill>
                <a:latin typeface="Arial" panose="020B0604020202020204" pitchFamily="34" charset="0"/>
                <a:cs typeface="Arial" panose="020B0604020202020204" pitchFamily="34" charset="0"/>
                <a:hlinkClick r:id="rId2"/>
              </a:rPr>
              <a:t>https://www.datasklr.com/logistic-regression/multinomial-logistic-regression</a:t>
            </a:r>
          </a:p>
          <a:p>
            <a:pPr lvl="0" algn="just">
              <a:lnSpc>
                <a:spcPct val="110000"/>
              </a:lnSpc>
              <a:spcBef>
                <a:spcPts val="0"/>
              </a:spcBef>
            </a:pPr>
            <a:endParaRPr lang="en-US" sz="2200" dirty="0">
              <a:solidFill>
                <a:srgbClr val="FF0000"/>
              </a:solidFill>
              <a:latin typeface="Arial" panose="020B0604020202020204" pitchFamily="34" charset="0"/>
              <a:cs typeface="Arial" panose="020B0604020202020204" pitchFamily="34" charset="0"/>
              <a:hlinkClick r:id="rId2"/>
            </a:endParaRPr>
          </a:p>
          <a:p>
            <a:pPr lvl="0" algn="just">
              <a:lnSpc>
                <a:spcPct val="110000"/>
              </a:lnSpc>
              <a:spcBef>
                <a:spcPts val="0"/>
              </a:spcBef>
            </a:pPr>
            <a:r>
              <a:rPr lang="en-US" sz="2200" dirty="0">
                <a:solidFill>
                  <a:prstClr val="black"/>
                </a:solidFill>
                <a:latin typeface="Arial" panose="020B0604020202020204" pitchFamily="34" charset="0"/>
                <a:cs typeface="Arial" panose="020B0604020202020204" pitchFamily="34" charset="0"/>
              </a:rPr>
              <a:t>Ordinal Regression:</a:t>
            </a:r>
            <a:endParaRPr lang="en-US" sz="2200" dirty="0">
              <a:solidFill>
                <a:prstClr val="black"/>
              </a:solidFill>
              <a:latin typeface="Arial" panose="020B0604020202020204" pitchFamily="34" charset="0"/>
              <a:cs typeface="Arial" panose="020B0604020202020204" pitchFamily="34" charset="0"/>
              <a:hlinkClick r:id="rId2"/>
            </a:endParaRPr>
          </a:p>
          <a:p>
            <a:pPr marL="442913" indent="-177800" algn="just">
              <a:lnSpc>
                <a:spcPct val="110000"/>
              </a:lnSpc>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hlinkClick r:id="rId3"/>
              </a:rPr>
              <a:t>www.norusis.com/pdf/ASPC_v13.pdf</a:t>
            </a:r>
            <a:endParaRPr lang="en-US" sz="2200" dirty="0">
              <a:solidFill>
                <a:schemeClr val="bg2">
                  <a:lumMod val="10000"/>
                </a:schemeClr>
              </a:solidFill>
              <a:latin typeface="Arial" panose="020B0604020202020204" pitchFamily="34" charset="0"/>
              <a:cs typeface="Arial" panose="020B0604020202020204" pitchFamily="34" charset="0"/>
            </a:endParaRPr>
          </a:p>
          <a:p>
            <a:pPr marL="442913" indent="-177800" algn="just">
              <a:lnSpc>
                <a:spcPct val="110000"/>
              </a:lnSpc>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hlinkClick r:id="rId4"/>
              </a:rPr>
              <a:t>https://www.statsmodels.org/devel/examples/notebooks/generated/ordinal_regression.html?highlight=ordinal</a:t>
            </a:r>
            <a:endParaRPr lang="en-US" sz="2200" dirty="0">
              <a:solidFill>
                <a:schemeClr val="bg2">
                  <a:lumMod val="10000"/>
                </a:schemeClr>
              </a:solidFill>
              <a:latin typeface="Arial" panose="020B0604020202020204" pitchFamily="34" charset="0"/>
              <a:cs typeface="Arial" panose="020B0604020202020204" pitchFamily="34" charset="0"/>
            </a:endParaRPr>
          </a:p>
          <a:p>
            <a:pPr marL="442913" indent="-177800" algn="just">
              <a:lnSpc>
                <a:spcPct val="110000"/>
              </a:lnSpc>
              <a:spcBef>
                <a:spcPts val="0"/>
              </a:spcBef>
              <a:buFont typeface="Arial" panose="020B0604020202020204" pitchFamily="34" charset="0"/>
              <a:buChar char="•"/>
            </a:pPr>
            <a:r>
              <a:rPr lang="en-US" sz="2200" dirty="0">
                <a:solidFill>
                  <a:schemeClr val="bg2">
                    <a:lumMod val="10000"/>
                  </a:schemeClr>
                </a:solidFill>
                <a:latin typeface="Arial" panose="020B0604020202020204" pitchFamily="34" charset="0"/>
                <a:cs typeface="Arial" panose="020B0604020202020204" pitchFamily="34" charset="0"/>
                <a:hlinkClick r:id="rId5"/>
              </a:rPr>
              <a:t>https://www.stata.com/meeting/germany08/GSUG2008.pdf</a:t>
            </a:r>
            <a:endParaRPr lang="en-US" sz="22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vert="horz" lIns="0" tIns="0" rIns="0" bIns="0" rtlCol="0">
            <a:noAutofit/>
          </a:bodyPr>
          <a:lstStyle/>
          <a:p>
            <a:r>
              <a:rPr lang="fr-FR" sz="1200" dirty="0">
                <a:solidFill>
                  <a:schemeClr val="tx1"/>
                </a:solidFill>
                <a:latin typeface="Arial" panose="020B0604020202020204" pitchFamily="34" charset="0"/>
                <a:cs typeface="Arial" panose="020B0604020202020204" pitchFamily="34" charset="0"/>
              </a:rPr>
              <a:t>Logistic Regression</a:t>
            </a:r>
            <a:endParaRPr lang="ru-RU"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7824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826718" y="3188442"/>
            <a:ext cx="10534389" cy="1978323"/>
          </a:xfrm>
        </p:spPr>
        <p:txBody>
          <a:bodyPr>
            <a:normAutofit/>
          </a:bodyPr>
          <a:lstStyle/>
          <a:p>
            <a:pPr algn="ctr"/>
            <a:r>
              <a:rPr lang="en-US" b="1" dirty="0">
                <a:latin typeface="Arial" panose="020B0604020202020204" pitchFamily="34" charset="0"/>
                <a:cs typeface="Arial" panose="020B0604020202020204" pitchFamily="34" charset="0"/>
              </a:rPr>
              <a:t>Thank you for your attention!</a:t>
            </a:r>
            <a:endParaRPr lang="ru-RU" b="1"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2074947" y="1187841"/>
            <a:ext cx="3935236" cy="435163"/>
          </a:xfrm>
        </p:spPr>
        <p:txBody>
          <a:bodyPr/>
          <a:lstStyle/>
          <a:p>
            <a:pPr algn="ctr"/>
            <a:r>
              <a:rPr lang="en-US" sz="2000" dirty="0">
                <a:latin typeface="Arial" panose="020B0604020202020204" pitchFamily="34" charset="0"/>
                <a:cs typeface="Arial" panose="020B0604020202020204" pitchFamily="34" charset="0"/>
              </a:rPr>
              <a:t>Faculty of Computer Science</a:t>
            </a:r>
            <a:endParaRPr lang="ru-RU" sz="2000" dirty="0">
              <a:latin typeface="Arial" panose="020B0604020202020204" pitchFamily="34" charset="0"/>
              <a:cs typeface="Arial" panose="020B0604020202020204" pitchFamily="34" charset="0"/>
            </a:endParaRPr>
          </a:p>
        </p:txBody>
      </p:sp>
      <p:sp>
        <p:nvSpPr>
          <p:cNvPr id="8" name="Текст 2">
            <a:extLst>
              <a:ext uri="{FF2B5EF4-FFF2-40B4-BE49-F238E27FC236}">
                <a16:creationId xmlns:a16="http://schemas.microsoft.com/office/drawing/2014/main" id="{2B85EA7E-BEC4-B745-B2A8-D4E4AFC614FC}"/>
              </a:ext>
            </a:extLst>
          </p:cNvPr>
          <p:cNvSpPr txBox="1">
            <a:spLocks/>
          </p:cNvSpPr>
          <p:nvPr/>
        </p:nvSpPr>
        <p:spPr>
          <a:xfrm>
            <a:off x="6204857" y="1193280"/>
            <a:ext cx="230142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Data Analysis</a:t>
            </a:r>
            <a:endParaRPr lang="ru-RU" sz="2000" dirty="0">
              <a:latin typeface="Arial" panose="020B0604020202020204" pitchFamily="34" charset="0"/>
              <a:cs typeface="Arial" panose="020B0604020202020204" pitchFamily="34" charset="0"/>
            </a:endParaRPr>
          </a:p>
        </p:txBody>
      </p:sp>
      <p:sp>
        <p:nvSpPr>
          <p:cNvPr id="10" name="Текст 2">
            <a:extLst>
              <a:ext uri="{FF2B5EF4-FFF2-40B4-BE49-F238E27FC236}">
                <a16:creationId xmlns:a16="http://schemas.microsoft.com/office/drawing/2014/main" id="{2B85EA7E-BEC4-B745-B2A8-D4E4AFC614FC}"/>
              </a:ext>
            </a:extLst>
          </p:cNvPr>
          <p:cNvSpPr txBox="1">
            <a:spLocks/>
          </p:cNvSpPr>
          <p:nvPr/>
        </p:nvSpPr>
        <p:spPr>
          <a:xfrm>
            <a:off x="9107120" y="1198719"/>
            <a:ext cx="177315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dirty="0">
                <a:latin typeface="Arial" panose="020B0604020202020204" pitchFamily="34" charset="0"/>
                <a:cs typeface="Arial" panose="020B0604020202020204" pitchFamily="34" charset="0"/>
              </a:rPr>
              <a:t>Moscow</a:t>
            </a:r>
            <a:r>
              <a:rPr lang="ru-RU" sz="2000" dirty="0">
                <a:latin typeface="Arial" panose="020B0604020202020204" pitchFamily="34" charset="0"/>
                <a:cs typeface="Arial" panose="020B0604020202020204" pitchFamily="34" charset="0"/>
              </a:rPr>
              <a:t> 202</a:t>
            </a:r>
            <a:r>
              <a:rPr lang="en-US" sz="2000" dirty="0">
                <a:latin typeface="Arial" panose="020B0604020202020204" pitchFamily="34" charset="0"/>
                <a:cs typeface="Arial" panose="020B0604020202020204" pitchFamily="34" charset="0"/>
              </a:rPr>
              <a:t>5</a:t>
            </a:r>
            <a:endParaRPr lang="ru-R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6876938"/>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2.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3.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8908</TotalTime>
  <Words>1029</Words>
  <Application>Microsoft Macintosh PowerPoint</Application>
  <PresentationFormat>Широкоэкранный</PresentationFormat>
  <Paragraphs>141</Paragraphs>
  <Slides>15</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15</vt:i4>
      </vt:variant>
    </vt:vector>
  </HeadingPairs>
  <TitlesOfParts>
    <vt:vector size="20" baseType="lpstr">
      <vt:lpstr>Arial</vt:lpstr>
      <vt:lpstr>Calibri</vt:lpstr>
      <vt:lpstr>Calibri Light</vt:lpstr>
      <vt:lpstr>HSE Sans</vt:lpstr>
      <vt:lpstr>Office Theme</vt:lpstr>
      <vt:lpstr>Lecture 8 Logistic Regression</vt:lpstr>
      <vt:lpstr>Logistic Regression</vt:lpstr>
      <vt:lpstr>Multinomial regression</vt:lpstr>
      <vt:lpstr>Multinomial logistic regression</vt:lpstr>
      <vt:lpstr>Preliminary Data Analysis</vt:lpstr>
      <vt:lpstr>Interpreting Results</vt:lpstr>
      <vt:lpstr>Results Interpretation</vt:lpstr>
      <vt:lpstr>Results Interpretation</vt:lpstr>
      <vt:lpstr>Graphical representation</vt:lpstr>
      <vt:lpstr>Ordinal regression</vt:lpstr>
      <vt:lpstr>Dependent Variable</vt:lpstr>
      <vt:lpstr>Interpreting the results</vt:lpstr>
      <vt:lpstr>Testing Parallel Lines</vt:lpstr>
      <vt:lpstr>Useful links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Меликян Алиса Валерьевна</cp:lastModifiedBy>
  <cp:revision>468</cp:revision>
  <cp:lastPrinted>2021-11-11T13:08:42Z</cp:lastPrinted>
  <dcterms:created xsi:type="dcterms:W3CDTF">2021-11-11T08:52:47Z</dcterms:created>
  <dcterms:modified xsi:type="dcterms:W3CDTF">2025-10-29T13:02:54Z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